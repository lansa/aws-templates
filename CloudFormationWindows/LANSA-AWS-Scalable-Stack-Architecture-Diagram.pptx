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4660"/>
  </p:normalViewPr>
  <p:slideViewPr>
    <p:cSldViewPr snapToGrid="0" showGuides="1">
      <p:cViewPr varScale="1">
        <p:scale>
          <a:sx n="103" d="100"/>
          <a:sy n="103" d="100"/>
        </p:scale>
        <p:origin x="132" y="3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B8704-80B1-49F8-8F88-9AA3AA39E7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3910759-B941-41E3-9E91-7804BCEE1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EB2818F-CD70-4A37-80EC-5E1C04172230}"/>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5" name="Footer Placeholder 4">
            <a:extLst>
              <a:ext uri="{FF2B5EF4-FFF2-40B4-BE49-F238E27FC236}">
                <a16:creationId xmlns:a16="http://schemas.microsoft.com/office/drawing/2014/main" id="{214863E0-CA4F-4899-996F-4DA46E8458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B4FF0F6-44EF-4CCF-9D78-3C7C4A4796B2}"/>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4236537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6F238-4768-408D-88BB-E4798756E80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9359A94-F223-49C9-92D9-D5FB4CC3F67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AA7C104-ABAD-4F58-8AC5-F8D3F6BB5B19}"/>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5" name="Footer Placeholder 4">
            <a:extLst>
              <a:ext uri="{FF2B5EF4-FFF2-40B4-BE49-F238E27FC236}">
                <a16:creationId xmlns:a16="http://schemas.microsoft.com/office/drawing/2014/main" id="{C8120386-DABA-4DCB-BE1A-DCE9EAF60AB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675AB6-9A37-4B3D-A5A4-8F736700CE40}"/>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324526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40186-8AA6-4FDD-9096-F67AA6DA88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32EA3F3-EBCE-430C-B6FD-9C23A49668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E853F1A-DEFD-4992-B0B9-5661CA438B5C}"/>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5" name="Footer Placeholder 4">
            <a:extLst>
              <a:ext uri="{FF2B5EF4-FFF2-40B4-BE49-F238E27FC236}">
                <a16:creationId xmlns:a16="http://schemas.microsoft.com/office/drawing/2014/main" id="{CAFC5698-9E43-42E0-A28D-E9287A263B4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578C9A5-CD31-4CE1-BBCF-654AA3059D6C}"/>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2701971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177B5-52E7-4BA3-87BF-8D112FC7A7C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0AFD8DB-19BA-475C-8751-B423B46F97C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392A2DFC-1753-4650-AAB4-A3B1E68E117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0C5FA57-8051-4425-99E9-8BB0A3F71887}"/>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6" name="Footer Placeholder 5">
            <a:extLst>
              <a:ext uri="{FF2B5EF4-FFF2-40B4-BE49-F238E27FC236}">
                <a16:creationId xmlns:a16="http://schemas.microsoft.com/office/drawing/2014/main" id="{CB373F81-5E39-4879-805B-7FE3D9CCC55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A5DAC9D-A65F-470D-80C8-FEC820680F04}"/>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232657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56E46-AC53-4A9F-8491-84D5777D31E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0A4808B-A08C-463C-9403-27BBA4B6E0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25FBCDB-8569-442F-85DB-A0604AA66D7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32CF90B4-F1A0-41DC-A2FA-9B642DE6E3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BA568A-78C3-4510-9746-78D53D8EADD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8BD7E23-B878-4D84-B959-720C4BF2040A}"/>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8" name="Footer Placeholder 7">
            <a:extLst>
              <a:ext uri="{FF2B5EF4-FFF2-40B4-BE49-F238E27FC236}">
                <a16:creationId xmlns:a16="http://schemas.microsoft.com/office/drawing/2014/main" id="{1A7739FD-6243-4370-BE21-312F0C90B28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68EE8A0-F2E3-42E3-900B-5F903F2266D0}"/>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4118764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CD26-50C4-4D6E-94D3-17D68C677F5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05CE7A9-345B-4667-B60B-8F971E334BDA}"/>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4" name="Footer Placeholder 3">
            <a:extLst>
              <a:ext uri="{FF2B5EF4-FFF2-40B4-BE49-F238E27FC236}">
                <a16:creationId xmlns:a16="http://schemas.microsoft.com/office/drawing/2014/main" id="{5C955510-7FC3-4125-B070-FB2A788A66B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DCCEB83-1427-4BCF-8607-FBDF6F101339}"/>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4181568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7F5F0B-7153-4ADE-8D08-D741CCEBADBF}"/>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3" name="Footer Placeholder 2">
            <a:extLst>
              <a:ext uri="{FF2B5EF4-FFF2-40B4-BE49-F238E27FC236}">
                <a16:creationId xmlns:a16="http://schemas.microsoft.com/office/drawing/2014/main" id="{5C217EC1-09AC-44B7-BF15-368AFF26457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B6869E8-A0F6-4DAD-9BB1-A0E6CA66826A}"/>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324848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117D5-BDC6-4DEE-B244-F6D3F07EA9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FF8BF62-AE11-48DE-A0E2-6FC6A7675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235388A-3413-4EFF-8EFB-95C2CC127B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0A036E-7770-4500-837C-324BED83A302}"/>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6" name="Footer Placeholder 5">
            <a:extLst>
              <a:ext uri="{FF2B5EF4-FFF2-40B4-BE49-F238E27FC236}">
                <a16:creationId xmlns:a16="http://schemas.microsoft.com/office/drawing/2014/main" id="{322818DD-5052-49ED-8408-95DE796B7F6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D3A0ABA-43EB-4039-A11C-09B01B8B8A00}"/>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3566341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8DDA-FA14-4C3A-A821-F672B2971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2B3AA0E0-7E47-44BC-9198-8425A956B6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5AD3F2E-CB4E-4FE4-9E49-D6DF4AE01F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2E3E392-1B1F-4EB7-AE71-BDF22E68B525}"/>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6" name="Footer Placeholder 5">
            <a:extLst>
              <a:ext uri="{FF2B5EF4-FFF2-40B4-BE49-F238E27FC236}">
                <a16:creationId xmlns:a16="http://schemas.microsoft.com/office/drawing/2014/main" id="{843BC131-44B8-4CD9-9DAD-0B62C4270BE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6AFCA52-613D-485C-9004-C9C1710E6006}"/>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1754888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A6D0F-B34C-4EF5-98CB-8DA286B228CF}"/>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9B9A3B9-8CB0-4512-993A-7F6B1402126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DCBC7CD-DAA4-41CD-9CD2-24E40954D782}"/>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5" name="Footer Placeholder 4">
            <a:extLst>
              <a:ext uri="{FF2B5EF4-FFF2-40B4-BE49-F238E27FC236}">
                <a16:creationId xmlns:a16="http://schemas.microsoft.com/office/drawing/2014/main" id="{90EBBAD5-5D1B-4319-A4CD-8C79683A7C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9350314-6E09-4499-9DC7-63856B5A0613}"/>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1163788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B4CADA-639E-410D-AED8-52E0D61074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ABD8C58-E09C-441F-B4DB-752104EC6C6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BCF0311-5C17-4F54-A646-83CED92FD5DD}"/>
              </a:ext>
            </a:extLst>
          </p:cNvPr>
          <p:cNvSpPr>
            <a:spLocks noGrp="1"/>
          </p:cNvSpPr>
          <p:nvPr>
            <p:ph type="dt" sz="half" idx="10"/>
          </p:nvPr>
        </p:nvSpPr>
        <p:spPr/>
        <p:txBody>
          <a:bodyPr/>
          <a:lstStyle/>
          <a:p>
            <a:fld id="{833AAB56-1DA1-455B-B93A-07372B48EE12}" type="datetimeFigureOut">
              <a:rPr lang="en-AU" smtClean="0"/>
              <a:t>27/04/2026</a:t>
            </a:fld>
            <a:endParaRPr lang="en-AU"/>
          </a:p>
        </p:txBody>
      </p:sp>
      <p:sp>
        <p:nvSpPr>
          <p:cNvPr id="5" name="Footer Placeholder 4">
            <a:extLst>
              <a:ext uri="{FF2B5EF4-FFF2-40B4-BE49-F238E27FC236}">
                <a16:creationId xmlns:a16="http://schemas.microsoft.com/office/drawing/2014/main" id="{6178032C-6ACD-4056-AE06-16FABE6231B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3F88EF9-CF23-43D5-9522-C91C00FD2780}"/>
              </a:ext>
            </a:extLst>
          </p:cNvPr>
          <p:cNvSpPr>
            <a:spLocks noGrp="1"/>
          </p:cNvSpPr>
          <p:nvPr>
            <p:ph type="sldNum" sz="quarter" idx="12"/>
          </p:nvPr>
        </p:nvSpPr>
        <p:spPr/>
        <p:txBody>
          <a:bodyPr/>
          <a:lstStyle/>
          <a:p>
            <a:fld id="{068DFAE7-7A54-4CEF-8812-8C6EED52FBCF}" type="slidenum">
              <a:rPr lang="en-AU" smtClean="0"/>
              <a:t>‹#›</a:t>
            </a:fld>
            <a:endParaRPr lang="en-AU"/>
          </a:p>
        </p:txBody>
      </p:sp>
    </p:spTree>
    <p:extLst>
      <p:ext uri="{BB962C8B-B14F-4D97-AF65-F5344CB8AC3E}">
        <p14:creationId xmlns:p14="http://schemas.microsoft.com/office/powerpoint/2010/main" val="3032440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B4C743-73BD-4E27-BB90-3CAE88D20B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0DDD763-5AC5-4045-AFCA-F41F2503F1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468ACE1-0516-43CE-8E8B-E2873784B9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3AAB56-1DA1-455B-B93A-07372B48EE12}" type="datetimeFigureOut">
              <a:rPr lang="en-AU" smtClean="0"/>
              <a:t>27/04/2026</a:t>
            </a:fld>
            <a:endParaRPr lang="en-AU"/>
          </a:p>
        </p:txBody>
      </p:sp>
      <p:sp>
        <p:nvSpPr>
          <p:cNvPr id="5" name="Footer Placeholder 4">
            <a:extLst>
              <a:ext uri="{FF2B5EF4-FFF2-40B4-BE49-F238E27FC236}">
                <a16:creationId xmlns:a16="http://schemas.microsoft.com/office/drawing/2014/main" id="{D2DAF3F8-60BF-4157-89DC-C168413B1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BAE628DF-8CF9-4E19-8AB3-FC817CF92C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8DFAE7-7A54-4CEF-8812-8C6EED52FBCF}" type="slidenum">
              <a:rPr lang="en-AU" smtClean="0"/>
              <a:t>‹#›</a:t>
            </a:fld>
            <a:endParaRPr lang="en-AU"/>
          </a:p>
        </p:txBody>
      </p:sp>
    </p:spTree>
    <p:extLst>
      <p:ext uri="{BB962C8B-B14F-4D97-AF65-F5344CB8AC3E}">
        <p14:creationId xmlns:p14="http://schemas.microsoft.com/office/powerpoint/2010/main" val="1536887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descr="VPC group border">
            <a:extLst>
              <a:ext uri="{FF2B5EF4-FFF2-40B4-BE49-F238E27FC236}">
                <a16:creationId xmlns:a16="http://schemas.microsoft.com/office/drawing/2014/main" id="{8ABF7C73-2B8F-4D89-8D5B-7008FFE3264C}"/>
              </a:ext>
            </a:extLst>
          </p:cNvPr>
          <p:cNvSpPr/>
          <p:nvPr/>
        </p:nvSpPr>
        <p:spPr>
          <a:xfrm>
            <a:off x="652411" y="1279962"/>
            <a:ext cx="6769397" cy="5020170"/>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Virtual private cloud (VPC)</a:t>
            </a:r>
          </a:p>
        </p:txBody>
      </p:sp>
      <p:sp>
        <p:nvSpPr>
          <p:cNvPr id="2" name="Rectangle 1">
            <a:extLst>
              <a:ext uri="{FF2B5EF4-FFF2-40B4-BE49-F238E27FC236}">
                <a16:creationId xmlns:a16="http://schemas.microsoft.com/office/drawing/2014/main" id="{BBF858FD-92CE-4BA8-AC4E-F39E035BB0AE}"/>
              </a:ext>
            </a:extLst>
          </p:cNvPr>
          <p:cNvSpPr/>
          <p:nvPr/>
        </p:nvSpPr>
        <p:spPr>
          <a:xfrm>
            <a:off x="204677" y="167142"/>
            <a:ext cx="7394607" cy="645269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0" tIns="91440"/>
          <a:lstStyle/>
          <a:p>
            <a:pPr eaLnBrk="1" fontAlgn="auto" hangingPunct="1">
              <a:spcBef>
                <a:spcPts val="0"/>
              </a:spcBef>
              <a:spcAft>
                <a:spcPts val="0"/>
              </a:spcAft>
              <a:defRPr/>
            </a:pPr>
            <a:r>
              <a:rPr lang="en-US" sz="1200" dirty="0">
                <a:solidFill>
                  <a:sysClr val="windowText" lastClr="000000"/>
                </a:solidFill>
                <a:latin typeface="Arial" panose="020B0604020202020204" pitchFamily="34" charset="0"/>
                <a:cs typeface="Arial" panose="020B0604020202020204" pitchFamily="34" charset="0"/>
              </a:rPr>
              <a:t>AWS Cloud</a:t>
            </a:r>
          </a:p>
        </p:txBody>
      </p:sp>
      <p:pic>
        <p:nvPicPr>
          <p:cNvPr id="3" name="Graphic 20">
            <a:extLst>
              <a:ext uri="{FF2B5EF4-FFF2-40B4-BE49-F238E27FC236}">
                <a16:creationId xmlns:a16="http://schemas.microsoft.com/office/drawing/2014/main" id="{59133190-F699-4A43-9146-326221BB4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678" y="167142"/>
            <a:ext cx="3302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5" name="Group 94">
            <a:extLst>
              <a:ext uri="{FF2B5EF4-FFF2-40B4-BE49-F238E27FC236}">
                <a16:creationId xmlns:a16="http://schemas.microsoft.com/office/drawing/2014/main" id="{422B8254-8542-43A1-9139-2ABA46FE9E78}"/>
              </a:ext>
            </a:extLst>
          </p:cNvPr>
          <p:cNvGrpSpPr/>
          <p:nvPr/>
        </p:nvGrpSpPr>
        <p:grpSpPr>
          <a:xfrm>
            <a:off x="2055303" y="2333190"/>
            <a:ext cx="4286796" cy="422767"/>
            <a:chOff x="2055303" y="2333190"/>
            <a:chExt cx="4286796" cy="422767"/>
          </a:xfrm>
        </p:grpSpPr>
        <p:sp>
          <p:nvSpPr>
            <p:cNvPr id="17" name="Freeform 26">
              <a:extLst>
                <a:ext uri="{FF2B5EF4-FFF2-40B4-BE49-F238E27FC236}">
                  <a16:creationId xmlns:a16="http://schemas.microsoft.com/office/drawing/2014/main" id="{71B2B649-DB09-46C0-A584-B4DC97B2A6B0}"/>
                </a:ext>
              </a:extLst>
            </p:cNvPr>
            <p:cNvSpPr/>
            <p:nvPr/>
          </p:nvSpPr>
          <p:spPr bwMode="auto">
            <a:xfrm rot="16200000">
              <a:off x="4054473" y="468332"/>
              <a:ext cx="288455" cy="4286796"/>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15875">
              <a:solidFill>
                <a:schemeClr val="tx2"/>
              </a:solidFill>
              <a:headEnd type="arrow"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cxnSp>
          <p:nvCxnSpPr>
            <p:cNvPr id="18" name="Straight Arrow Connector 17">
              <a:extLst>
                <a:ext uri="{FF2B5EF4-FFF2-40B4-BE49-F238E27FC236}">
                  <a16:creationId xmlns:a16="http://schemas.microsoft.com/office/drawing/2014/main" id="{2752E979-E675-4831-841E-C0892124DA55}"/>
                </a:ext>
              </a:extLst>
            </p:cNvPr>
            <p:cNvCxnSpPr>
              <a:cxnSpLocks/>
            </p:cNvCxnSpPr>
            <p:nvPr/>
          </p:nvCxnSpPr>
          <p:spPr bwMode="auto">
            <a:xfrm>
              <a:off x="4195357" y="2333190"/>
              <a:ext cx="0" cy="134103"/>
            </a:xfrm>
            <a:prstGeom prst="straightConnector1">
              <a:avLst/>
            </a:prstGeom>
            <a:ln w="15875">
              <a:solidFill>
                <a:srgbClr val="545B64"/>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grpSp>
      <p:cxnSp>
        <p:nvCxnSpPr>
          <p:cNvPr id="35" name="Straight Arrow Connector 34">
            <a:extLst>
              <a:ext uri="{FF2B5EF4-FFF2-40B4-BE49-F238E27FC236}">
                <a16:creationId xmlns:a16="http://schemas.microsoft.com/office/drawing/2014/main" id="{396789A5-F63B-4857-8011-58F7B018E810}"/>
              </a:ext>
            </a:extLst>
          </p:cNvPr>
          <p:cNvCxnSpPr>
            <a:cxnSpLocks/>
          </p:cNvCxnSpPr>
          <p:nvPr/>
        </p:nvCxnSpPr>
        <p:spPr>
          <a:xfrm>
            <a:off x="1457479" y="4939145"/>
            <a:ext cx="250023" cy="0"/>
          </a:xfrm>
          <a:prstGeom prst="straightConnector1">
            <a:avLst/>
          </a:prstGeom>
          <a:ln w="15875">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9" name="Freeform 35">
            <a:extLst>
              <a:ext uri="{FF2B5EF4-FFF2-40B4-BE49-F238E27FC236}">
                <a16:creationId xmlns:a16="http://schemas.microsoft.com/office/drawing/2014/main" id="{6A03670A-48AF-44B8-9EF1-CE488C1E5A6C}"/>
              </a:ext>
            </a:extLst>
          </p:cNvPr>
          <p:cNvSpPr/>
          <p:nvPr/>
        </p:nvSpPr>
        <p:spPr>
          <a:xfrm rot="16200000" flipH="1" flipV="1">
            <a:off x="2287593" y="4536839"/>
            <a:ext cx="457200" cy="347411"/>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15875">
            <a:solidFill>
              <a:schemeClr val="tx2"/>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0" name="Freeform 35">
            <a:extLst>
              <a:ext uri="{FF2B5EF4-FFF2-40B4-BE49-F238E27FC236}">
                <a16:creationId xmlns:a16="http://schemas.microsoft.com/office/drawing/2014/main" id="{578A6E0E-888E-4B25-97A5-D242F3943664}"/>
              </a:ext>
            </a:extLst>
          </p:cNvPr>
          <p:cNvSpPr/>
          <p:nvPr/>
        </p:nvSpPr>
        <p:spPr>
          <a:xfrm rot="5400000" flipH="1" flipV="1">
            <a:off x="541402" y="3390796"/>
            <a:ext cx="2477932" cy="630924"/>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15875">
            <a:solidFill>
              <a:schemeClr val="tx2"/>
            </a:solidFill>
            <a:headEnd type="none" w="med" len="sm"/>
            <a:tailEnd type="none" w="med"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5" name="Rectangle 44">
            <a:extLst>
              <a:ext uri="{FF2B5EF4-FFF2-40B4-BE49-F238E27FC236}">
                <a16:creationId xmlns:a16="http://schemas.microsoft.com/office/drawing/2014/main" id="{6AD733C9-7131-4B05-B1A7-22A1618AAD8B}"/>
              </a:ext>
            </a:extLst>
          </p:cNvPr>
          <p:cNvSpPr/>
          <p:nvPr/>
        </p:nvSpPr>
        <p:spPr>
          <a:xfrm>
            <a:off x="8031531" y="376534"/>
            <a:ext cx="3681627" cy="4324261"/>
          </a:xfrm>
          <a:prstGeom prst="rect">
            <a:avLst/>
          </a:prstGeom>
        </p:spPr>
        <p:txBody>
          <a:bodyPr wrap="square">
            <a:spAutoFit/>
          </a:bodyPr>
          <a:lstStyle/>
          <a:p>
            <a:pPr marL="228600" indent="-228600">
              <a:buFont typeface="+mj-lt"/>
              <a:buAutoNum type="arabicPeriod"/>
            </a:pPr>
            <a:r>
              <a:rPr lang="en-AU" sz="1100" dirty="0"/>
              <a:t>The Internet Gateway provides access into the application.</a:t>
            </a:r>
          </a:p>
          <a:p>
            <a:pPr marL="228600" indent="-228600">
              <a:buFont typeface="+mj-lt"/>
              <a:buAutoNum type="arabicPeriod"/>
            </a:pPr>
            <a:r>
              <a:rPr lang="en-AU" sz="1100" dirty="0"/>
              <a:t>The</a:t>
            </a:r>
            <a:r>
              <a:rPr lang="en-AU" sz="1100" baseline="0" dirty="0"/>
              <a:t> Elastic IP is a permanent public ip address which is connected to the load balancer using an internal ip address that may vary at will</a:t>
            </a:r>
          </a:p>
          <a:p>
            <a:pPr marL="228600" indent="-228600">
              <a:buFont typeface="+mj-lt"/>
              <a:buAutoNum type="arabicPeriod"/>
            </a:pPr>
            <a:r>
              <a:rPr lang="en-AU" sz="1100" baseline="0" dirty="0"/>
              <a:t>The Classic Load Balancer automatically scales up to handle the volume of traffic </a:t>
            </a:r>
          </a:p>
          <a:p>
            <a:pPr marL="228600" indent="-228600">
              <a:buFont typeface="+mj-lt"/>
              <a:buAutoNum type="arabicPeriod"/>
            </a:pPr>
            <a:r>
              <a:rPr lang="en-AU" sz="1100" baseline="0" dirty="0"/>
              <a:t>The application is spread across 2 availability zones</a:t>
            </a:r>
          </a:p>
          <a:p>
            <a:pPr marL="228600" indent="-228600">
              <a:buFont typeface="+mj-lt"/>
              <a:buAutoNum type="arabicPeriod"/>
            </a:pPr>
            <a:r>
              <a:rPr lang="en-AU" sz="1100" baseline="0" dirty="0"/>
              <a:t>The Webserver Auto-Scaling Group manages the Web Server instances. The ASG Scales Out increasing the number of web servers as traffic rises and Scales In as traffic decreases.</a:t>
            </a:r>
          </a:p>
          <a:p>
            <a:pPr marL="228600" indent="-228600">
              <a:buFont typeface="+mj-lt"/>
              <a:buAutoNum type="arabicPeriod"/>
            </a:pPr>
            <a:r>
              <a:rPr lang="en-AU" sz="1100" baseline="0" dirty="0"/>
              <a:t>The webservers connect to a SQL Server instance</a:t>
            </a:r>
          </a:p>
          <a:p>
            <a:pPr marL="228600" indent="-228600">
              <a:buFont typeface="+mj-lt"/>
              <a:buAutoNum type="arabicPeriod"/>
            </a:pPr>
            <a:r>
              <a:rPr lang="en-AU" sz="1100" dirty="0"/>
              <a:t>When a webserver is created by the ASG it i</a:t>
            </a:r>
            <a:r>
              <a:rPr lang="en-AU" sz="1100" baseline="0" dirty="0"/>
              <a:t>nstalls the LANSA MSI which has been uploaded to S3 by the customer</a:t>
            </a:r>
          </a:p>
          <a:p>
            <a:pPr marL="228600" indent="-228600">
              <a:buFont typeface="+mj-lt"/>
              <a:buAutoNum type="arabicPeriod"/>
            </a:pPr>
            <a:r>
              <a:rPr lang="en-AU" sz="1100" dirty="0"/>
              <a:t>The Database Auto Scaling Group web server is identical to the other web servers, except that it is the one instance that is responsible for maintaining the database structure in the database server. It is the instance which creates the tables when the application is installed. And upgrades the tables when the application is upgraded. The Database ASG is set to only have 1 instance running at a time. It is important that only 1 instance modifies the database structure.</a:t>
            </a:r>
            <a:endParaRPr lang="en-AU" sz="1100" baseline="0" dirty="0"/>
          </a:p>
        </p:txBody>
      </p:sp>
      <p:sp>
        <p:nvSpPr>
          <p:cNvPr id="36" name="Rectangle 35" descr="Availability Zone 1 represented by availability zone resource group.">
            <a:extLst>
              <a:ext uri="{FF2B5EF4-FFF2-40B4-BE49-F238E27FC236}">
                <a16:creationId xmlns:a16="http://schemas.microsoft.com/office/drawing/2014/main" id="{13DEE933-EE80-4BDF-B422-428A6F832EF4}"/>
              </a:ext>
            </a:extLst>
          </p:cNvPr>
          <p:cNvSpPr/>
          <p:nvPr/>
        </p:nvSpPr>
        <p:spPr bwMode="auto">
          <a:xfrm>
            <a:off x="1034806" y="941189"/>
            <a:ext cx="2031628" cy="5484776"/>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Availability Zone 1</a:t>
            </a:r>
          </a:p>
        </p:txBody>
      </p:sp>
      <p:grpSp>
        <p:nvGrpSpPr>
          <p:cNvPr id="90" name="Group 89">
            <a:extLst>
              <a:ext uri="{FF2B5EF4-FFF2-40B4-BE49-F238E27FC236}">
                <a16:creationId xmlns:a16="http://schemas.microsoft.com/office/drawing/2014/main" id="{C0FAE142-3A14-444A-AE9C-874E46C1FB24}"/>
              </a:ext>
            </a:extLst>
          </p:cNvPr>
          <p:cNvGrpSpPr/>
          <p:nvPr/>
        </p:nvGrpSpPr>
        <p:grpSpPr>
          <a:xfrm>
            <a:off x="1151473" y="2611187"/>
            <a:ext cx="6065241" cy="1001721"/>
            <a:chOff x="1157680" y="2249257"/>
            <a:chExt cx="6065241" cy="1001721"/>
          </a:xfrm>
        </p:grpSpPr>
        <p:grpSp>
          <p:nvGrpSpPr>
            <p:cNvPr id="82" name="Group 81">
              <a:extLst>
                <a:ext uri="{FF2B5EF4-FFF2-40B4-BE49-F238E27FC236}">
                  <a16:creationId xmlns:a16="http://schemas.microsoft.com/office/drawing/2014/main" id="{BEC396B9-9C92-4798-9410-0CBACF942988}"/>
                </a:ext>
              </a:extLst>
            </p:cNvPr>
            <p:cNvGrpSpPr/>
            <p:nvPr/>
          </p:nvGrpSpPr>
          <p:grpSpPr>
            <a:xfrm>
              <a:off x="5527940" y="2394028"/>
              <a:ext cx="1511300" cy="756158"/>
              <a:chOff x="3675847" y="1722398"/>
              <a:chExt cx="1511300" cy="756158"/>
            </a:xfrm>
          </p:grpSpPr>
          <p:sp>
            <p:nvSpPr>
              <p:cNvPr id="29" name="TextBox 53">
                <a:extLst>
                  <a:ext uri="{FF2B5EF4-FFF2-40B4-BE49-F238E27FC236}">
                    <a16:creationId xmlns:a16="http://schemas.microsoft.com/office/drawing/2014/main" id="{50527979-3B22-4EA3-8D2A-D6574B2E84A7}"/>
                  </a:ext>
                </a:extLst>
              </p:cNvPr>
              <p:cNvSpPr txBox="1">
                <a:spLocks noChangeArrowheads="1"/>
              </p:cNvSpPr>
              <p:nvPr/>
            </p:nvSpPr>
            <p:spPr bwMode="auto">
              <a:xfrm>
                <a:off x="3675847" y="2216619"/>
                <a:ext cx="15113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Web Servers</a:t>
                </a:r>
              </a:p>
            </p:txBody>
          </p:sp>
          <p:pic>
            <p:nvPicPr>
              <p:cNvPr id="38" name="Graphic 37">
                <a:extLst>
                  <a:ext uri="{FF2B5EF4-FFF2-40B4-BE49-F238E27FC236}">
                    <a16:creationId xmlns:a16="http://schemas.microsoft.com/office/drawing/2014/main" id="{FE66292F-9187-45A7-B848-1F443172B8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20955" y="1722398"/>
                <a:ext cx="457200" cy="457200"/>
              </a:xfrm>
              <a:prstGeom prst="rect">
                <a:avLst/>
              </a:prstGeom>
            </p:spPr>
          </p:pic>
        </p:grpSp>
        <p:grpSp>
          <p:nvGrpSpPr>
            <p:cNvPr id="84" name="Group 83">
              <a:extLst>
                <a:ext uri="{FF2B5EF4-FFF2-40B4-BE49-F238E27FC236}">
                  <a16:creationId xmlns:a16="http://schemas.microsoft.com/office/drawing/2014/main" id="{AD395B8D-7F8D-43F1-859F-99CEAE5EAE08}"/>
                </a:ext>
              </a:extLst>
            </p:cNvPr>
            <p:cNvGrpSpPr/>
            <p:nvPr/>
          </p:nvGrpSpPr>
          <p:grpSpPr>
            <a:xfrm>
              <a:off x="1343784" y="2394028"/>
              <a:ext cx="1511300" cy="735183"/>
              <a:chOff x="3725506" y="3051330"/>
              <a:chExt cx="1511300" cy="735183"/>
            </a:xfrm>
          </p:grpSpPr>
          <p:sp>
            <p:nvSpPr>
              <p:cNvPr id="31" name="TextBox 53">
                <a:extLst>
                  <a:ext uri="{FF2B5EF4-FFF2-40B4-BE49-F238E27FC236}">
                    <a16:creationId xmlns:a16="http://schemas.microsoft.com/office/drawing/2014/main" id="{00FA343B-4A1D-4BA8-94C1-4EB2083235AC}"/>
                  </a:ext>
                </a:extLst>
              </p:cNvPr>
              <p:cNvSpPr txBox="1">
                <a:spLocks noChangeArrowheads="1"/>
              </p:cNvSpPr>
              <p:nvPr/>
            </p:nvSpPr>
            <p:spPr bwMode="auto">
              <a:xfrm>
                <a:off x="3725506" y="3524576"/>
                <a:ext cx="15113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Web Servers</a:t>
                </a:r>
              </a:p>
            </p:txBody>
          </p:sp>
          <p:pic>
            <p:nvPicPr>
              <p:cNvPr id="42" name="Graphic 41">
                <a:extLst>
                  <a:ext uri="{FF2B5EF4-FFF2-40B4-BE49-F238E27FC236}">
                    <a16:creationId xmlns:a16="http://schemas.microsoft.com/office/drawing/2014/main" id="{9D83F81B-8C4B-4A55-BB19-5A2DCD17F8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07600" y="3051330"/>
                <a:ext cx="457200" cy="457200"/>
              </a:xfrm>
              <a:prstGeom prst="rect">
                <a:avLst/>
              </a:prstGeom>
            </p:spPr>
          </p:pic>
        </p:grpSp>
        <p:sp>
          <p:nvSpPr>
            <p:cNvPr id="47" name="Rectangle 46">
              <a:extLst>
                <a:ext uri="{FF2B5EF4-FFF2-40B4-BE49-F238E27FC236}">
                  <a16:creationId xmlns:a16="http://schemas.microsoft.com/office/drawing/2014/main" id="{3EFFB2F6-74AD-438B-82BA-8511D0DB2AC2}"/>
                </a:ext>
                <a:ext uri="{C183D7F6-B498-43B3-948B-1728B52AA6E4}">
                  <adec:decorative xmlns:adec="http://schemas.microsoft.com/office/drawing/2017/decorative" val="1"/>
                </a:ext>
              </a:extLst>
            </p:cNvPr>
            <p:cNvSpPr/>
            <p:nvPr/>
          </p:nvSpPr>
          <p:spPr>
            <a:xfrm>
              <a:off x="1157680" y="2257814"/>
              <a:ext cx="6065241" cy="993164"/>
            </a:xfrm>
            <a:prstGeom prst="rect">
              <a:avLst/>
            </a:prstGeom>
            <a:noFill/>
            <a:ln w="15875">
              <a:solidFill>
                <a:srgbClr val="ED71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Web Server</a:t>
              </a:r>
            </a:p>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Auto Scaling group</a:t>
              </a:r>
            </a:p>
          </p:txBody>
        </p:sp>
        <p:pic>
          <p:nvPicPr>
            <p:cNvPr id="49" name="Graphic 48">
              <a:extLst>
                <a:ext uri="{FF2B5EF4-FFF2-40B4-BE49-F238E27FC236}">
                  <a16:creationId xmlns:a16="http://schemas.microsoft.com/office/drawing/2014/main" id="{CDD673DF-3571-4BE5-9C6E-FDF9C52ECDB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998247" y="2249257"/>
              <a:ext cx="381000" cy="381000"/>
            </a:xfrm>
            <a:prstGeom prst="rect">
              <a:avLst/>
            </a:prstGeom>
          </p:spPr>
        </p:pic>
      </p:grpSp>
      <p:grpSp>
        <p:nvGrpSpPr>
          <p:cNvPr id="81" name="Group 80">
            <a:extLst>
              <a:ext uri="{FF2B5EF4-FFF2-40B4-BE49-F238E27FC236}">
                <a16:creationId xmlns:a16="http://schemas.microsoft.com/office/drawing/2014/main" id="{DAD8AF69-0E94-4C00-91F9-B5CD1FA13C35}"/>
              </a:ext>
            </a:extLst>
          </p:cNvPr>
          <p:cNvGrpSpPr/>
          <p:nvPr/>
        </p:nvGrpSpPr>
        <p:grpSpPr>
          <a:xfrm>
            <a:off x="1911416" y="3711226"/>
            <a:ext cx="1511300" cy="820930"/>
            <a:chOff x="5248087" y="1756531"/>
            <a:chExt cx="1511300" cy="820930"/>
          </a:xfrm>
        </p:grpSpPr>
        <p:sp>
          <p:nvSpPr>
            <p:cNvPr id="25" name="TextBox 16">
              <a:extLst>
                <a:ext uri="{FF2B5EF4-FFF2-40B4-BE49-F238E27FC236}">
                  <a16:creationId xmlns:a16="http://schemas.microsoft.com/office/drawing/2014/main" id="{CDA22A1A-B211-4DB0-86BE-93AF1BD884CB}"/>
                </a:ext>
              </a:extLst>
            </p:cNvPr>
            <p:cNvSpPr txBox="1">
              <a:spLocks noChangeArrowheads="1"/>
            </p:cNvSpPr>
            <p:nvPr/>
          </p:nvSpPr>
          <p:spPr bwMode="auto">
            <a:xfrm>
              <a:off x="5248087" y="2147249"/>
              <a:ext cx="15113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a:latin typeface="Arial" panose="020B0604020202020204" pitchFamily="34" charset="0"/>
                  <a:ea typeface="Amazon Ember" panose="020B0603020204020204" pitchFamily="34" charset="0"/>
                  <a:cs typeface="Arial" panose="020B0604020202020204" pitchFamily="34" charset="0"/>
                </a:rPr>
                <a:t>SQL server </a:t>
              </a:r>
            </a:p>
            <a:p>
              <a:pPr algn="ctr" eaLnBrk="1" hangingPunct="1"/>
              <a:r>
                <a:rPr lang="en-US" altLang="en-US" sz="1100">
                  <a:latin typeface="Arial" panose="020B0604020202020204" pitchFamily="34" charset="0"/>
                  <a:ea typeface="Amazon Ember" panose="020B0603020204020204" pitchFamily="34" charset="0"/>
                  <a:cs typeface="Arial" panose="020B0604020202020204" pitchFamily="34" charset="0"/>
                </a:rPr>
                <a:t>instance</a:t>
              </a:r>
            </a:p>
          </p:txBody>
        </p:sp>
        <p:pic>
          <p:nvPicPr>
            <p:cNvPr id="19" name="Graphic 18">
              <a:extLst>
                <a:ext uri="{FF2B5EF4-FFF2-40B4-BE49-F238E27FC236}">
                  <a16:creationId xmlns:a16="http://schemas.microsoft.com/office/drawing/2014/main" id="{1EF678AE-29A5-4820-AA6C-718695ECE1F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05205" y="1756531"/>
              <a:ext cx="381000" cy="381000"/>
            </a:xfrm>
            <a:prstGeom prst="rect">
              <a:avLst/>
            </a:prstGeom>
          </p:spPr>
        </p:pic>
      </p:grpSp>
      <p:grpSp>
        <p:nvGrpSpPr>
          <p:cNvPr id="86" name="Group 85">
            <a:extLst>
              <a:ext uri="{FF2B5EF4-FFF2-40B4-BE49-F238E27FC236}">
                <a16:creationId xmlns:a16="http://schemas.microsoft.com/office/drawing/2014/main" id="{2FD11FBE-FDB9-4C71-BD6F-CD8B2B97B3D7}"/>
              </a:ext>
            </a:extLst>
          </p:cNvPr>
          <p:cNvGrpSpPr/>
          <p:nvPr/>
        </p:nvGrpSpPr>
        <p:grpSpPr>
          <a:xfrm>
            <a:off x="3472440" y="5658915"/>
            <a:ext cx="1382713" cy="641006"/>
            <a:chOff x="6130014" y="4260843"/>
            <a:chExt cx="1382713" cy="641006"/>
          </a:xfrm>
        </p:grpSpPr>
        <p:sp>
          <p:nvSpPr>
            <p:cNvPr id="27" name="TextBox 62">
              <a:extLst>
                <a:ext uri="{FF2B5EF4-FFF2-40B4-BE49-F238E27FC236}">
                  <a16:creationId xmlns:a16="http://schemas.microsoft.com/office/drawing/2014/main" id="{F756ADFA-F9B3-4271-813F-10A2728FAE1C}"/>
                </a:ext>
              </a:extLst>
            </p:cNvPr>
            <p:cNvSpPr txBox="1">
              <a:spLocks noChangeArrowheads="1"/>
            </p:cNvSpPr>
            <p:nvPr/>
          </p:nvSpPr>
          <p:spPr bwMode="auto">
            <a:xfrm>
              <a:off x="6130014" y="4639911"/>
              <a:ext cx="13827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S3 Standard</a:t>
              </a:r>
            </a:p>
          </p:txBody>
        </p:sp>
        <p:pic>
          <p:nvPicPr>
            <p:cNvPr id="21" name="Graphic 20">
              <a:extLst>
                <a:ext uri="{FF2B5EF4-FFF2-40B4-BE49-F238E27FC236}">
                  <a16:creationId xmlns:a16="http://schemas.microsoft.com/office/drawing/2014/main" id="{33337190-8E22-4745-A44B-B2D401BCF5B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8560" y="4260843"/>
              <a:ext cx="381000" cy="381000"/>
            </a:xfrm>
            <a:prstGeom prst="rect">
              <a:avLst/>
            </a:prstGeom>
          </p:spPr>
        </p:pic>
      </p:grpSp>
      <p:grpSp>
        <p:nvGrpSpPr>
          <p:cNvPr id="80" name="Group 79">
            <a:extLst>
              <a:ext uri="{FF2B5EF4-FFF2-40B4-BE49-F238E27FC236}">
                <a16:creationId xmlns:a16="http://schemas.microsoft.com/office/drawing/2014/main" id="{B4241DDA-7794-43C5-BFF4-D7EDE1749198}"/>
              </a:ext>
            </a:extLst>
          </p:cNvPr>
          <p:cNvGrpSpPr/>
          <p:nvPr/>
        </p:nvGrpSpPr>
        <p:grpSpPr>
          <a:xfrm>
            <a:off x="3063571" y="1641297"/>
            <a:ext cx="2270125" cy="726386"/>
            <a:chOff x="1301447" y="3201849"/>
            <a:chExt cx="2270125" cy="726386"/>
          </a:xfrm>
        </p:grpSpPr>
        <p:sp>
          <p:nvSpPr>
            <p:cNvPr id="10" name="TextBox 21">
              <a:extLst>
                <a:ext uri="{FF2B5EF4-FFF2-40B4-BE49-F238E27FC236}">
                  <a16:creationId xmlns:a16="http://schemas.microsoft.com/office/drawing/2014/main" id="{2BD5F485-2B94-4F73-8B4A-81DDED2374DD}"/>
                </a:ext>
              </a:extLst>
            </p:cNvPr>
            <p:cNvSpPr txBox="1">
              <a:spLocks noChangeArrowheads="1"/>
            </p:cNvSpPr>
            <p:nvPr/>
          </p:nvSpPr>
          <p:spPr bwMode="auto">
            <a:xfrm>
              <a:off x="1301447" y="3666625"/>
              <a:ext cx="2270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Load Balancer</a:t>
              </a:r>
            </a:p>
          </p:txBody>
        </p:sp>
        <p:pic>
          <p:nvPicPr>
            <p:cNvPr id="56" name="Graphic 55">
              <a:extLst>
                <a:ext uri="{FF2B5EF4-FFF2-40B4-BE49-F238E27FC236}">
                  <a16:creationId xmlns:a16="http://schemas.microsoft.com/office/drawing/2014/main" id="{D689DED7-16CC-4F15-A20C-D4A75EC1110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206976" y="3201849"/>
              <a:ext cx="457200" cy="457200"/>
            </a:xfrm>
            <a:prstGeom prst="rect">
              <a:avLst/>
            </a:prstGeom>
          </p:spPr>
        </p:pic>
      </p:grpSp>
      <p:sp>
        <p:nvSpPr>
          <p:cNvPr id="72" name="Rectangle 71">
            <a:extLst>
              <a:ext uri="{FF2B5EF4-FFF2-40B4-BE49-F238E27FC236}">
                <a16:creationId xmlns:a16="http://schemas.microsoft.com/office/drawing/2014/main" id="{5B995670-E73C-4D73-A69D-71A325C4869C}"/>
              </a:ext>
            </a:extLst>
          </p:cNvPr>
          <p:cNvSpPr/>
          <p:nvPr/>
        </p:nvSpPr>
        <p:spPr>
          <a:xfrm>
            <a:off x="534878" y="557868"/>
            <a:ext cx="6977849" cy="5956696"/>
          </a:xfrm>
          <a:prstGeom prst="rect">
            <a:avLst/>
          </a:prstGeom>
          <a:noFill/>
          <a:ln w="15875" cap="flat" cmpd="sng" algn="ctr">
            <a:solidFill>
              <a:srgbClr val="E7157B"/>
            </a:solidFill>
            <a:prstDash val="solid"/>
            <a:miter lim="800000"/>
          </a:ln>
          <a:effectLst/>
        </p:spPr>
        <p:txBody>
          <a:bodyPr lIns="502920" tIns="9144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AWS account</a:t>
            </a:r>
          </a:p>
        </p:txBody>
      </p:sp>
      <p:pic>
        <p:nvPicPr>
          <p:cNvPr id="73" name="Graphic 72" descr="AWS account group icon.">
            <a:extLst>
              <a:ext uri="{FF2B5EF4-FFF2-40B4-BE49-F238E27FC236}">
                <a16:creationId xmlns:a16="http://schemas.microsoft.com/office/drawing/2014/main" id="{A47BBF79-2A6C-45A9-85F2-BC8E7348381E}"/>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534877" y="560189"/>
            <a:ext cx="381000" cy="381000"/>
          </a:xfrm>
          <a:prstGeom prst="rect">
            <a:avLst/>
          </a:prstGeom>
        </p:spPr>
      </p:pic>
      <p:pic>
        <p:nvPicPr>
          <p:cNvPr id="77" name="Graphic 76" descr="VPC group icon.">
            <a:extLst>
              <a:ext uri="{FF2B5EF4-FFF2-40B4-BE49-F238E27FC236}">
                <a16:creationId xmlns:a16="http://schemas.microsoft.com/office/drawing/2014/main" id="{FB6CBC8A-976C-4048-A279-E35B1909943F}"/>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652411" y="1276694"/>
            <a:ext cx="381000" cy="381000"/>
          </a:xfrm>
          <a:prstGeom prst="rect">
            <a:avLst/>
          </a:prstGeom>
        </p:spPr>
      </p:pic>
      <p:sp>
        <p:nvSpPr>
          <p:cNvPr id="88" name="Rectangle 87" descr="Availability Zone 1 represented by availability zone resource group.">
            <a:extLst>
              <a:ext uri="{FF2B5EF4-FFF2-40B4-BE49-F238E27FC236}">
                <a16:creationId xmlns:a16="http://schemas.microsoft.com/office/drawing/2014/main" id="{204E71B7-896B-4496-A2CC-F81DA49B5C58}"/>
              </a:ext>
            </a:extLst>
          </p:cNvPr>
          <p:cNvSpPr/>
          <p:nvPr/>
        </p:nvSpPr>
        <p:spPr bwMode="auto">
          <a:xfrm>
            <a:off x="5296362" y="941189"/>
            <a:ext cx="2031628" cy="5484776"/>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Availability Zone 2</a:t>
            </a:r>
          </a:p>
        </p:txBody>
      </p:sp>
      <p:sp>
        <p:nvSpPr>
          <p:cNvPr id="7" name="TextBox 29">
            <a:extLst>
              <a:ext uri="{FF2B5EF4-FFF2-40B4-BE49-F238E27FC236}">
                <a16:creationId xmlns:a16="http://schemas.microsoft.com/office/drawing/2014/main" id="{CABB08F7-34FC-426E-9E72-769F839716F0}"/>
              </a:ext>
            </a:extLst>
          </p:cNvPr>
          <p:cNvSpPr txBox="1">
            <a:spLocks noChangeArrowheads="1"/>
          </p:cNvSpPr>
          <p:nvPr/>
        </p:nvSpPr>
        <p:spPr bwMode="auto">
          <a:xfrm>
            <a:off x="3486529" y="1261064"/>
            <a:ext cx="135924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solidFill>
                  <a:srgbClr val="000000"/>
                </a:solidFill>
                <a:latin typeface="Arial" panose="020B0604020202020204" pitchFamily="34" charset="0"/>
                <a:cs typeface="Arial" panose="020B0604020202020204" pitchFamily="34" charset="0"/>
              </a:rPr>
              <a:t>Internet Gateway</a:t>
            </a:r>
          </a:p>
        </p:txBody>
      </p:sp>
      <p:pic>
        <p:nvPicPr>
          <p:cNvPr id="60" name="Graphic 59">
            <a:extLst>
              <a:ext uri="{FF2B5EF4-FFF2-40B4-BE49-F238E27FC236}">
                <a16:creationId xmlns:a16="http://schemas.microsoft.com/office/drawing/2014/main" id="{17D37F65-C68A-47A8-83E6-F0E55C0925C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965344" y="814206"/>
            <a:ext cx="457200" cy="457200"/>
          </a:xfrm>
          <a:prstGeom prst="rect">
            <a:avLst/>
          </a:prstGeom>
        </p:spPr>
      </p:pic>
      <p:grpSp>
        <p:nvGrpSpPr>
          <p:cNvPr id="91" name="Group 90">
            <a:extLst>
              <a:ext uri="{FF2B5EF4-FFF2-40B4-BE49-F238E27FC236}">
                <a16:creationId xmlns:a16="http://schemas.microsoft.com/office/drawing/2014/main" id="{93881D92-E05E-49FB-8201-E88EAD7B3C75}"/>
              </a:ext>
            </a:extLst>
          </p:cNvPr>
          <p:cNvGrpSpPr/>
          <p:nvPr/>
        </p:nvGrpSpPr>
        <p:grpSpPr>
          <a:xfrm>
            <a:off x="1151473" y="4539247"/>
            <a:ext cx="6065241" cy="1001365"/>
            <a:chOff x="1151473" y="4539247"/>
            <a:chExt cx="6065241" cy="1001365"/>
          </a:xfrm>
        </p:grpSpPr>
        <p:sp>
          <p:nvSpPr>
            <p:cNvPr id="33" name="TextBox 52">
              <a:extLst>
                <a:ext uri="{FF2B5EF4-FFF2-40B4-BE49-F238E27FC236}">
                  <a16:creationId xmlns:a16="http://schemas.microsoft.com/office/drawing/2014/main" id="{997B874E-6663-4305-939F-436ABD3B576D}"/>
                </a:ext>
              </a:extLst>
            </p:cNvPr>
            <p:cNvSpPr txBox="1">
              <a:spLocks noChangeArrowheads="1"/>
            </p:cNvSpPr>
            <p:nvPr/>
          </p:nvSpPr>
          <p:spPr bwMode="auto">
            <a:xfrm>
              <a:off x="1179034" y="5133561"/>
              <a:ext cx="178258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Database Web Server</a:t>
              </a:r>
            </a:p>
          </p:txBody>
        </p:sp>
        <p:pic>
          <p:nvPicPr>
            <p:cNvPr id="52" name="Graphic 51">
              <a:extLst>
                <a:ext uri="{FF2B5EF4-FFF2-40B4-BE49-F238E27FC236}">
                  <a16:creationId xmlns:a16="http://schemas.microsoft.com/office/drawing/2014/main" id="{4F18548C-F542-486A-A084-99458CB52C4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989756" y="4539247"/>
              <a:ext cx="381000" cy="381000"/>
            </a:xfrm>
            <a:prstGeom prst="rect">
              <a:avLst/>
            </a:prstGeom>
          </p:spPr>
        </p:pic>
        <p:pic>
          <p:nvPicPr>
            <p:cNvPr id="53" name="Graphic 60">
              <a:extLst>
                <a:ext uri="{FF2B5EF4-FFF2-40B4-BE49-F238E27FC236}">
                  <a16:creationId xmlns:a16="http://schemas.microsoft.com/office/drawing/2014/main" id="{CA608D63-EFB8-43C0-8CC9-B15632E03CBB}"/>
                </a:ext>
                <a:ext uri="{C183D7F6-B498-43B3-948B-1728B52AA6E4}">
                  <adec:decorative xmlns:adec="http://schemas.microsoft.com/office/drawing/2017/decorative" val="1"/>
                </a:ext>
              </a:extLst>
            </p:cNvPr>
            <p:cNvPicPr>
              <a:picLocks noChangeAspect="1" noChangeArrowheads="1"/>
            </p:cNvPicPr>
            <p:nvPr/>
          </p:nvPicPr>
          <p:blipFill>
            <a:blip r:embed="rId19">
              <a:extLst>
                <a:ext uri="{96DAC541-7B7A-43D3-8B79-37D633B846F1}">
                  <asvg:svgBlip xmlns:asvg="http://schemas.microsoft.com/office/drawing/2016/SVG/main" r:embed="rId20"/>
                </a:ext>
              </a:extLst>
            </a:blip>
            <a:srcRect/>
            <a:stretch/>
          </p:blipFill>
          <p:spPr bwMode="auto">
            <a:xfrm>
              <a:off x="1790424" y="467636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Rectangle 88">
              <a:extLst>
                <a:ext uri="{FF2B5EF4-FFF2-40B4-BE49-F238E27FC236}">
                  <a16:creationId xmlns:a16="http://schemas.microsoft.com/office/drawing/2014/main" id="{308F5411-96B3-44A0-B58F-F835A9605536}"/>
                </a:ext>
                <a:ext uri="{C183D7F6-B498-43B3-948B-1728B52AA6E4}">
                  <adec:decorative xmlns:adec="http://schemas.microsoft.com/office/drawing/2017/decorative" val="1"/>
                </a:ext>
              </a:extLst>
            </p:cNvPr>
            <p:cNvSpPr/>
            <p:nvPr/>
          </p:nvSpPr>
          <p:spPr>
            <a:xfrm>
              <a:off x="1151473" y="4547448"/>
              <a:ext cx="6065241" cy="993164"/>
            </a:xfrm>
            <a:prstGeom prst="rect">
              <a:avLst/>
            </a:prstGeom>
            <a:noFill/>
            <a:ln w="15875">
              <a:solidFill>
                <a:srgbClr val="ED71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Database Web Server</a:t>
              </a:r>
            </a:p>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Auto Scaling group</a:t>
              </a:r>
            </a:p>
          </p:txBody>
        </p:sp>
      </p:grpSp>
      <p:sp>
        <p:nvSpPr>
          <p:cNvPr id="96" name="Freeform 35">
            <a:extLst>
              <a:ext uri="{FF2B5EF4-FFF2-40B4-BE49-F238E27FC236}">
                <a16:creationId xmlns:a16="http://schemas.microsoft.com/office/drawing/2014/main" id="{0E60370C-B84F-493D-89CE-0625F6BB32AE}"/>
              </a:ext>
            </a:extLst>
          </p:cNvPr>
          <p:cNvSpPr/>
          <p:nvPr/>
        </p:nvSpPr>
        <p:spPr>
          <a:xfrm rot="10800000" flipH="1" flipV="1">
            <a:off x="2378451" y="2948283"/>
            <a:ext cx="311448" cy="742215"/>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15875">
            <a:solidFill>
              <a:schemeClr val="tx2"/>
            </a:solidFill>
            <a:headEnd type="arrow" w="med" len="sm"/>
            <a:tailEnd type="none" w="med"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2958755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TotalTime>
  <Words>245</Words>
  <Application>Microsoft Office PowerPoint</Application>
  <PresentationFormat>Widescreen</PresentationFormat>
  <Paragraphs>29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Amazon Ember</vt: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Goodridge</dc:creator>
  <cp:lastModifiedBy>Robert Goodridge</cp:lastModifiedBy>
  <cp:revision>33</cp:revision>
  <dcterms:created xsi:type="dcterms:W3CDTF">2020-12-10T00:55:46Z</dcterms:created>
  <dcterms:modified xsi:type="dcterms:W3CDTF">2026-04-27T06:23:50Z</dcterms:modified>
</cp:coreProperties>
</file>