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showGuides="1">
      <p:cViewPr varScale="1">
        <p:scale>
          <a:sx n="108" d="100"/>
          <a:sy n="108" d="100"/>
        </p:scale>
        <p:origin x="144" y="160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B8704-80B1-49F8-8F88-9AA3AA39E7A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E3910759-B941-41E3-9E91-7804BCEE17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8EB2818F-CD70-4A37-80EC-5E1C04172230}"/>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214863E0-CA4F-4899-996F-4DA46E8458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2B4FF0F6-44EF-4CCF-9D78-3C7C4A4796B2}"/>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42365378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6F238-4768-408D-88BB-E4798756E805}"/>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9359A94-F223-49C9-92D9-D5FB4CC3F67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AA7C104-ABAD-4F58-8AC5-F8D3F6BB5B19}"/>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C8120386-DABA-4DCB-BE1A-DCE9EAF60AB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675AB6-9A37-4B3D-A5A4-8F736700CE40}"/>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3245264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40186-8AA6-4FDD-9096-F67AA6DA88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932EA3F3-EBCE-430C-B6FD-9C23A49668D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853F1A-DEFD-4992-B0B9-5661CA438B5C}"/>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CAFC5698-9E43-42E0-A28D-E9287A263B45}"/>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578C9A5-CD31-4CE1-BBCF-654AA3059D6C}"/>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2701971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177B5-52E7-4BA3-87BF-8D112FC7A7C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D0AFD8DB-19BA-475C-8751-B423B46F97C1}"/>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392A2DFC-1753-4650-AAB4-A3B1E68E117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0C5FA57-8051-4425-99E9-8BB0A3F71887}"/>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6" name="Footer Placeholder 5">
            <a:extLst>
              <a:ext uri="{FF2B5EF4-FFF2-40B4-BE49-F238E27FC236}">
                <a16:creationId xmlns:a16="http://schemas.microsoft.com/office/drawing/2014/main" id="{CB373F81-5E39-4879-805B-7FE3D9CCC55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A5DAC9D-A65F-470D-80C8-FEC820680F04}"/>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23265700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56E46-AC53-4A9F-8491-84D5777D31E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0A4808B-A08C-463C-9403-27BBA4B6E05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925FBCDB-8569-442F-85DB-A0604AA66D74}"/>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32CF90B4-F1A0-41DC-A2FA-9B642DE6E3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BA568A-78C3-4510-9746-78D53D8EADD6}"/>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88BD7E23-B878-4D84-B959-720C4BF2040A}"/>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8" name="Footer Placeholder 7">
            <a:extLst>
              <a:ext uri="{FF2B5EF4-FFF2-40B4-BE49-F238E27FC236}">
                <a16:creationId xmlns:a16="http://schemas.microsoft.com/office/drawing/2014/main" id="{1A7739FD-6243-4370-BE21-312F0C90B284}"/>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E68EE8A0-F2E3-42E3-900B-5F903F2266D0}"/>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4118764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BCD26-50C4-4D6E-94D3-17D68C677F54}"/>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D05CE7A9-345B-4667-B60B-8F971E334BDA}"/>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4" name="Footer Placeholder 3">
            <a:extLst>
              <a:ext uri="{FF2B5EF4-FFF2-40B4-BE49-F238E27FC236}">
                <a16:creationId xmlns:a16="http://schemas.microsoft.com/office/drawing/2014/main" id="{5C955510-7FC3-4125-B070-FB2A788A66B9}"/>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9DCCEB83-1427-4BCF-8607-FBDF6F101339}"/>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41815682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7F5F0B-7153-4ADE-8D08-D741CCEBADBF}"/>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3" name="Footer Placeholder 2">
            <a:extLst>
              <a:ext uri="{FF2B5EF4-FFF2-40B4-BE49-F238E27FC236}">
                <a16:creationId xmlns:a16="http://schemas.microsoft.com/office/drawing/2014/main" id="{5C217EC1-09AC-44B7-BF15-368AFF26457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0B6869E8-A0F6-4DAD-9BB1-A0E6CA66826A}"/>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3248488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117D5-BDC6-4DEE-B244-F6D3F07EA9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6FF8BF62-AE11-48DE-A0E2-6FC6A76755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235388A-3413-4EFF-8EFB-95C2CC127B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00A036E-7770-4500-837C-324BED83A302}"/>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6" name="Footer Placeholder 5">
            <a:extLst>
              <a:ext uri="{FF2B5EF4-FFF2-40B4-BE49-F238E27FC236}">
                <a16:creationId xmlns:a16="http://schemas.microsoft.com/office/drawing/2014/main" id="{322818DD-5052-49ED-8408-95DE796B7F6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D3A0ABA-43EB-4039-A11C-09B01B8B8A00}"/>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35663413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58DDA-FA14-4C3A-A821-F672B2971F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2B3AA0E0-7E47-44BC-9198-8425A956B6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F5AD3F2E-CB4E-4FE4-9E49-D6DF4AE01F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E3E392-1B1F-4EB7-AE71-BDF22E68B525}"/>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6" name="Footer Placeholder 5">
            <a:extLst>
              <a:ext uri="{FF2B5EF4-FFF2-40B4-BE49-F238E27FC236}">
                <a16:creationId xmlns:a16="http://schemas.microsoft.com/office/drawing/2014/main" id="{843BC131-44B8-4CD9-9DAD-0B62C4270BE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96AFCA52-613D-485C-9004-C9C1710E6006}"/>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1754888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A6D0F-B34C-4EF5-98CB-8DA286B228CF}"/>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B9A3B9-8CB0-4512-993A-7F6B140212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CDCBC7CD-DAA4-41CD-9CD2-24E40954D782}"/>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90EBBAD5-5D1B-4319-A4CD-8C79683A7C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9350314-6E09-4499-9DC7-63856B5A0613}"/>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11637887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B4CADA-639E-410D-AED8-52E0D610749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3ABD8C58-E09C-441F-B4DB-752104EC6C6B}"/>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BCF0311-5C17-4F54-A646-83CED92FD5DD}"/>
              </a:ext>
            </a:extLst>
          </p:cNvPr>
          <p:cNvSpPr>
            <a:spLocks noGrp="1"/>
          </p:cNvSpPr>
          <p:nvPr>
            <p:ph type="dt" sz="half" idx="10"/>
          </p:nvPr>
        </p:nvSpPr>
        <p:spPr/>
        <p:txBody>
          <a:body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6178032C-6ACD-4056-AE06-16FABE6231B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3F88EF9-CF23-43D5-9522-C91C00FD2780}"/>
              </a:ext>
            </a:extLst>
          </p:cNvPr>
          <p:cNvSpPr>
            <a:spLocks noGrp="1"/>
          </p:cNvSpPr>
          <p:nvPr>
            <p:ph type="sldNum" sz="quarter" idx="12"/>
          </p:nvPr>
        </p:nvSpPr>
        <p:spPr/>
        <p:txBody>
          <a:bodyPr/>
          <a:lstStyle/>
          <a:p>
            <a:fld id="{068DFAE7-7A54-4CEF-8812-8C6EED52FBCF}" type="slidenum">
              <a:rPr lang="en-AU" smtClean="0"/>
              <a:t>‹#›</a:t>
            </a:fld>
            <a:endParaRPr lang="en-AU"/>
          </a:p>
        </p:txBody>
      </p:sp>
    </p:spTree>
    <p:extLst>
      <p:ext uri="{BB962C8B-B14F-4D97-AF65-F5344CB8AC3E}">
        <p14:creationId xmlns:p14="http://schemas.microsoft.com/office/powerpoint/2010/main" val="30324408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B4C743-73BD-4E27-BB90-3CAE88D20B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0DDD763-5AC5-4045-AFCA-F41F2503F1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468ACE1-0516-43CE-8E8B-E2873784B9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3AAB56-1DA1-455B-B93A-07372B48EE12}" type="datetimeFigureOut">
              <a:rPr lang="en-AU" smtClean="0"/>
              <a:t>10/12/2020</a:t>
            </a:fld>
            <a:endParaRPr lang="en-AU"/>
          </a:p>
        </p:txBody>
      </p:sp>
      <p:sp>
        <p:nvSpPr>
          <p:cNvPr id="5" name="Footer Placeholder 4">
            <a:extLst>
              <a:ext uri="{FF2B5EF4-FFF2-40B4-BE49-F238E27FC236}">
                <a16:creationId xmlns:a16="http://schemas.microsoft.com/office/drawing/2014/main" id="{D2DAF3F8-60BF-4157-89DC-C168413B10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BAE628DF-8CF9-4E19-8AB3-FC817CF92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68DFAE7-7A54-4CEF-8812-8C6EED52FBCF}" type="slidenum">
              <a:rPr lang="en-AU" smtClean="0"/>
              <a:t>‹#›</a:t>
            </a:fld>
            <a:endParaRPr lang="en-AU"/>
          </a:p>
        </p:txBody>
      </p:sp>
    </p:spTree>
    <p:extLst>
      <p:ext uri="{BB962C8B-B14F-4D97-AF65-F5344CB8AC3E}">
        <p14:creationId xmlns:p14="http://schemas.microsoft.com/office/powerpoint/2010/main" val="1536887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BF858FD-92CE-4BA8-AC4E-F39E035BB0AE}"/>
              </a:ext>
            </a:extLst>
          </p:cNvPr>
          <p:cNvSpPr/>
          <p:nvPr/>
        </p:nvSpPr>
        <p:spPr>
          <a:xfrm>
            <a:off x="204677" y="167142"/>
            <a:ext cx="7394607" cy="645269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457200" tIns="91440"/>
          <a:lstStyle/>
          <a:p>
            <a:pPr eaLnBrk="1" fontAlgn="auto" hangingPunct="1">
              <a:spcBef>
                <a:spcPts val="0"/>
              </a:spcBef>
              <a:spcAft>
                <a:spcPts val="0"/>
              </a:spcAft>
              <a:defRPr/>
            </a:pPr>
            <a:r>
              <a:rPr lang="en-US" sz="1200" dirty="0">
                <a:solidFill>
                  <a:sysClr val="windowText" lastClr="000000"/>
                </a:solidFill>
                <a:latin typeface="Arial" panose="020B0604020202020204" pitchFamily="34" charset="0"/>
                <a:cs typeface="Arial" panose="020B0604020202020204" pitchFamily="34" charset="0"/>
              </a:rPr>
              <a:t>AWS Cloud</a:t>
            </a:r>
          </a:p>
        </p:txBody>
      </p:sp>
      <p:pic>
        <p:nvPicPr>
          <p:cNvPr id="3" name="Graphic 20">
            <a:extLst>
              <a:ext uri="{FF2B5EF4-FFF2-40B4-BE49-F238E27FC236}">
                <a16:creationId xmlns:a16="http://schemas.microsoft.com/office/drawing/2014/main" id="{59133190-F699-4A43-9146-326221BB43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678" y="167142"/>
            <a:ext cx="3302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Graphic 12">
            <a:extLst>
              <a:ext uri="{FF2B5EF4-FFF2-40B4-BE49-F238E27FC236}">
                <a16:creationId xmlns:a16="http://schemas.microsoft.com/office/drawing/2014/main" id="{1FA8EC26-72E5-47D1-B3C3-96B0EC3D31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878" y="3140282"/>
            <a:ext cx="469900" cy="46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TextBox 29">
            <a:extLst>
              <a:ext uri="{FF2B5EF4-FFF2-40B4-BE49-F238E27FC236}">
                <a16:creationId xmlns:a16="http://schemas.microsoft.com/office/drawing/2014/main" id="{CABB08F7-34FC-426E-9E72-769F839716F0}"/>
              </a:ext>
            </a:extLst>
          </p:cNvPr>
          <p:cNvSpPr txBox="1">
            <a:spLocks noChangeArrowheads="1"/>
          </p:cNvSpPr>
          <p:nvPr/>
        </p:nvSpPr>
        <p:spPr bwMode="auto">
          <a:xfrm>
            <a:off x="193411" y="3624908"/>
            <a:ext cx="107315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solidFill>
                  <a:srgbClr val="000000"/>
                </a:solidFill>
                <a:latin typeface="Arial" panose="020B0604020202020204" pitchFamily="34" charset="0"/>
                <a:cs typeface="Arial" panose="020B0604020202020204" pitchFamily="34" charset="0"/>
              </a:rPr>
              <a:t>Internet Gateway</a:t>
            </a:r>
          </a:p>
        </p:txBody>
      </p:sp>
      <p:sp>
        <p:nvSpPr>
          <p:cNvPr id="10" name="TextBox 21">
            <a:extLst>
              <a:ext uri="{FF2B5EF4-FFF2-40B4-BE49-F238E27FC236}">
                <a16:creationId xmlns:a16="http://schemas.microsoft.com/office/drawing/2014/main" id="{2BD5F485-2B94-4F73-8B4A-81DDED2374DD}"/>
              </a:ext>
            </a:extLst>
          </p:cNvPr>
          <p:cNvSpPr txBox="1">
            <a:spLocks noChangeArrowheads="1"/>
          </p:cNvSpPr>
          <p:nvPr/>
        </p:nvSpPr>
        <p:spPr bwMode="auto">
          <a:xfrm>
            <a:off x="1301447" y="3666625"/>
            <a:ext cx="2270125"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Classic load</a:t>
            </a:r>
          </a:p>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balancer</a:t>
            </a:r>
          </a:p>
        </p:txBody>
      </p:sp>
      <p:pic>
        <p:nvPicPr>
          <p:cNvPr id="11" name="Graphic 18">
            <a:extLst>
              <a:ext uri="{FF2B5EF4-FFF2-40B4-BE49-F238E27FC236}">
                <a16:creationId xmlns:a16="http://schemas.microsoft.com/office/drawing/2014/main" id="{8CA18B77-F300-4EAE-9C56-D33B396177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38032" y="3202301"/>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Rectangle 11">
            <a:extLst>
              <a:ext uri="{FF2B5EF4-FFF2-40B4-BE49-F238E27FC236}">
                <a16:creationId xmlns:a16="http://schemas.microsoft.com/office/drawing/2014/main" id="{ECAEA8BB-7038-4E20-A2E1-9597BE18D6BE}"/>
              </a:ext>
            </a:extLst>
          </p:cNvPr>
          <p:cNvSpPr/>
          <p:nvPr/>
        </p:nvSpPr>
        <p:spPr>
          <a:xfrm>
            <a:off x="3562108" y="497341"/>
            <a:ext cx="1511300" cy="3613019"/>
          </a:xfrm>
          <a:prstGeom prst="rect">
            <a:avLst/>
          </a:prstGeom>
          <a:noFill/>
          <a:ln w="12700">
            <a:solidFill>
              <a:srgbClr val="D86613"/>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rgbClr val="D86613"/>
              </a:solidFill>
              <a:latin typeface="Arial" panose="020B0604020202020204" pitchFamily="34" charset="0"/>
              <a:cs typeface="Arial" panose="020B0604020202020204" pitchFamily="34" charset="0"/>
            </a:endParaRPr>
          </a:p>
          <a:p>
            <a:pPr algn="ctr" eaLnBrk="1" fontAlgn="auto" hangingPunct="1">
              <a:spcBef>
                <a:spcPts val="0"/>
              </a:spcBef>
              <a:spcAft>
                <a:spcPts val="0"/>
              </a:spcAft>
              <a:defRPr/>
            </a:pPr>
            <a:endParaRPr lang="en-US" sz="1200" dirty="0">
              <a:solidFill>
                <a:srgbClr val="D86613"/>
              </a:solidFill>
              <a:latin typeface="Arial" panose="020B0604020202020204" pitchFamily="34" charset="0"/>
              <a:cs typeface="Arial" panose="020B0604020202020204" pitchFamily="34" charset="0"/>
            </a:endParaRPr>
          </a:p>
          <a:p>
            <a:pPr algn="ctr" eaLnBrk="1" fontAlgn="auto" hangingPunct="1">
              <a:spcBef>
                <a:spcPts val="0"/>
              </a:spcBef>
              <a:spcAft>
                <a:spcPts val="0"/>
              </a:spcAft>
              <a:defRPr/>
            </a:pPr>
            <a:r>
              <a:rPr lang="en-US" sz="1200" dirty="0">
                <a:solidFill>
                  <a:srgbClr val="D86613"/>
                </a:solidFill>
                <a:latin typeface="Arial" panose="020B0604020202020204" pitchFamily="34" charset="0"/>
                <a:cs typeface="Arial" panose="020B0604020202020204" pitchFamily="34" charset="0"/>
              </a:rPr>
              <a:t>Webserver Auto Scaling group</a:t>
            </a:r>
          </a:p>
        </p:txBody>
      </p:sp>
      <p:pic>
        <p:nvPicPr>
          <p:cNvPr id="13" name="Graphic 18">
            <a:extLst>
              <a:ext uri="{FF2B5EF4-FFF2-40B4-BE49-F238E27FC236}">
                <a16:creationId xmlns:a16="http://schemas.microsoft.com/office/drawing/2014/main" id="{A33BDFD9-1BB9-407A-8836-E680D9E4035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52658" y="508762"/>
            <a:ext cx="3302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a:extLst>
              <a:ext uri="{FF2B5EF4-FFF2-40B4-BE49-F238E27FC236}">
                <a16:creationId xmlns:a16="http://schemas.microsoft.com/office/drawing/2014/main" id="{FC94E330-8BC1-459E-8C09-3E2FFC2E0198}"/>
              </a:ext>
            </a:extLst>
          </p:cNvPr>
          <p:cNvSpPr/>
          <p:nvPr/>
        </p:nvSpPr>
        <p:spPr>
          <a:xfrm>
            <a:off x="3547953" y="4283282"/>
            <a:ext cx="1525455" cy="2241805"/>
          </a:xfrm>
          <a:prstGeom prst="rect">
            <a:avLst/>
          </a:prstGeom>
          <a:noFill/>
          <a:ln w="12700">
            <a:solidFill>
              <a:srgbClr val="D86613"/>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rgbClr val="D86613"/>
              </a:solidFill>
              <a:latin typeface="Arial" panose="020B0604020202020204" pitchFamily="34" charset="0"/>
              <a:cs typeface="Arial" panose="020B0604020202020204" pitchFamily="34" charset="0"/>
            </a:endParaRPr>
          </a:p>
          <a:p>
            <a:pPr algn="ctr" eaLnBrk="1" fontAlgn="auto" hangingPunct="1">
              <a:spcBef>
                <a:spcPts val="0"/>
              </a:spcBef>
              <a:spcAft>
                <a:spcPts val="0"/>
              </a:spcAft>
              <a:defRPr/>
            </a:pPr>
            <a:endParaRPr lang="en-US" sz="1200" dirty="0">
              <a:solidFill>
                <a:srgbClr val="D86613"/>
              </a:solidFill>
              <a:latin typeface="Arial" panose="020B0604020202020204" pitchFamily="34" charset="0"/>
              <a:cs typeface="Arial" panose="020B0604020202020204" pitchFamily="34" charset="0"/>
            </a:endParaRPr>
          </a:p>
          <a:p>
            <a:pPr algn="ctr" eaLnBrk="1" fontAlgn="auto" hangingPunct="1">
              <a:spcBef>
                <a:spcPts val="0"/>
              </a:spcBef>
              <a:spcAft>
                <a:spcPts val="0"/>
              </a:spcAft>
              <a:defRPr/>
            </a:pPr>
            <a:r>
              <a:rPr lang="en-US" sz="1200" dirty="0">
                <a:solidFill>
                  <a:srgbClr val="D86613"/>
                </a:solidFill>
                <a:latin typeface="Arial" panose="020B0604020202020204" pitchFamily="34" charset="0"/>
                <a:cs typeface="Arial" panose="020B0604020202020204" pitchFamily="34" charset="0"/>
              </a:rPr>
              <a:t>Database Auto Scaling group</a:t>
            </a:r>
          </a:p>
        </p:txBody>
      </p:sp>
      <p:pic>
        <p:nvPicPr>
          <p:cNvPr id="15" name="Graphic 18">
            <a:extLst>
              <a:ext uri="{FF2B5EF4-FFF2-40B4-BE49-F238E27FC236}">
                <a16:creationId xmlns:a16="http://schemas.microsoft.com/office/drawing/2014/main" id="{60C7A4A5-D450-45D3-82B3-785DC2EFBFE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45580" y="4283282"/>
            <a:ext cx="3302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25">
            <a:extLst>
              <a:ext uri="{FF2B5EF4-FFF2-40B4-BE49-F238E27FC236}">
                <a16:creationId xmlns:a16="http://schemas.microsoft.com/office/drawing/2014/main" id="{C83D5F7A-F6C4-4E41-8A7E-16E3837793C7}"/>
              </a:ext>
            </a:extLst>
          </p:cNvPr>
          <p:cNvGrpSpPr>
            <a:grpSpLocks/>
          </p:cNvGrpSpPr>
          <p:nvPr/>
        </p:nvGrpSpPr>
        <p:grpSpPr bwMode="auto">
          <a:xfrm>
            <a:off x="2623050" y="2119125"/>
            <a:ext cx="1332932" cy="3613019"/>
            <a:chOff x="2674470" y="1567527"/>
            <a:chExt cx="1488361" cy="331243"/>
          </a:xfrm>
        </p:grpSpPr>
        <p:sp>
          <p:nvSpPr>
            <p:cNvPr id="17" name="Freeform 26">
              <a:extLst>
                <a:ext uri="{FF2B5EF4-FFF2-40B4-BE49-F238E27FC236}">
                  <a16:creationId xmlns:a16="http://schemas.microsoft.com/office/drawing/2014/main" id="{71B2B649-DB09-46C0-A584-B4DC97B2A6B0}"/>
                </a:ext>
              </a:extLst>
            </p:cNvPr>
            <p:cNvSpPr/>
            <p:nvPr/>
          </p:nvSpPr>
          <p:spPr>
            <a:xfrm rot="10800000">
              <a:off x="3247894" y="1567527"/>
              <a:ext cx="914937" cy="331243"/>
            </a:xfrm>
            <a:custGeom>
              <a:avLst/>
              <a:gdLst>
                <a:gd name="connsiteX0" fmla="*/ 0 w 622300"/>
                <a:gd name="connsiteY0" fmla="*/ 0 h 1574800"/>
                <a:gd name="connsiteX1" fmla="*/ 622300 w 622300"/>
                <a:gd name="connsiteY1" fmla="*/ 0 h 1574800"/>
                <a:gd name="connsiteX2" fmla="*/ 622300 w 622300"/>
                <a:gd name="connsiteY2" fmla="*/ 1574800 h 1574800"/>
                <a:gd name="connsiteX3" fmla="*/ 482600 w 622300"/>
                <a:gd name="connsiteY3" fmla="*/ 1574800 h 1574800"/>
                <a:gd name="connsiteX4" fmla="*/ 0 w 622300"/>
                <a:gd name="connsiteY4" fmla="*/ 1574800 h 157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300" h="1574800">
                  <a:moveTo>
                    <a:pt x="0" y="0"/>
                  </a:moveTo>
                  <a:lnTo>
                    <a:pt x="622300" y="0"/>
                  </a:lnTo>
                  <a:lnTo>
                    <a:pt x="622300" y="1574800"/>
                  </a:lnTo>
                  <a:lnTo>
                    <a:pt x="482600" y="1574800"/>
                  </a:lnTo>
                  <a:lnTo>
                    <a:pt x="0" y="1574800"/>
                  </a:lnTo>
                </a:path>
              </a:pathLst>
            </a:custGeom>
            <a:noFill/>
            <a:ln w="12700">
              <a:solidFill>
                <a:schemeClr val="tx2"/>
              </a:solidFill>
              <a:headEnd type="arrow" w="med" len="sm"/>
              <a:tailEnd type="arrow" w="med" len="s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cxnSp>
          <p:nvCxnSpPr>
            <p:cNvPr id="18" name="Straight Arrow Connector 17">
              <a:extLst>
                <a:ext uri="{FF2B5EF4-FFF2-40B4-BE49-F238E27FC236}">
                  <a16:creationId xmlns:a16="http://schemas.microsoft.com/office/drawing/2014/main" id="{2752E979-E675-4831-841E-C0892124DA55}"/>
                </a:ext>
              </a:extLst>
            </p:cNvPr>
            <p:cNvCxnSpPr>
              <a:cxnSpLocks/>
            </p:cNvCxnSpPr>
            <p:nvPr/>
          </p:nvCxnSpPr>
          <p:spPr>
            <a:xfrm>
              <a:off x="2674470" y="1687617"/>
              <a:ext cx="573422" cy="0"/>
            </a:xfrm>
            <a:prstGeom prst="straightConnector1">
              <a:avLst/>
            </a:prstGeom>
            <a:ln w="12700">
              <a:solidFill>
                <a:srgbClr val="545B64"/>
              </a:solidFill>
              <a:headEnd type="none" w="med" len="sm"/>
              <a:tailEnd type="none" w="med" len="sm"/>
            </a:ln>
          </p:spPr>
          <p:style>
            <a:lnRef idx="1">
              <a:schemeClr val="accent1"/>
            </a:lnRef>
            <a:fillRef idx="0">
              <a:schemeClr val="accent1"/>
            </a:fillRef>
            <a:effectRef idx="0">
              <a:schemeClr val="accent1"/>
            </a:effectRef>
            <a:fontRef idx="minor">
              <a:schemeClr val="tx1"/>
            </a:fontRef>
          </p:style>
        </p:cxnSp>
      </p:grpSp>
      <p:sp>
        <p:nvSpPr>
          <p:cNvPr id="22" name="Rectangle 21">
            <a:extLst>
              <a:ext uri="{FF2B5EF4-FFF2-40B4-BE49-F238E27FC236}">
                <a16:creationId xmlns:a16="http://schemas.microsoft.com/office/drawing/2014/main" id="{FE44A95F-E542-4A2B-B99F-C2CCDFB2546D}"/>
              </a:ext>
            </a:extLst>
          </p:cNvPr>
          <p:cNvSpPr/>
          <p:nvPr/>
        </p:nvSpPr>
        <p:spPr>
          <a:xfrm>
            <a:off x="3422291" y="1365158"/>
            <a:ext cx="3404638" cy="1241966"/>
          </a:xfrm>
          <a:prstGeom prst="rect">
            <a:avLst/>
          </a:prstGeom>
          <a:noFill/>
          <a:ln w="12700">
            <a:solidFill>
              <a:srgbClr val="5B9CD5"/>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r>
              <a:rPr lang="en-US" sz="1200" dirty="0">
                <a:solidFill>
                  <a:srgbClr val="5B9CD5"/>
                </a:solidFill>
                <a:latin typeface="Arial" panose="020B0604020202020204" pitchFamily="34" charset="0"/>
                <a:cs typeface="Arial" panose="020B0604020202020204" pitchFamily="34" charset="0"/>
              </a:rPr>
              <a:t>Availability Zone 1</a:t>
            </a:r>
          </a:p>
        </p:txBody>
      </p:sp>
      <p:sp>
        <p:nvSpPr>
          <p:cNvPr id="23" name="Rectangle 22">
            <a:extLst>
              <a:ext uri="{FF2B5EF4-FFF2-40B4-BE49-F238E27FC236}">
                <a16:creationId xmlns:a16="http://schemas.microsoft.com/office/drawing/2014/main" id="{C13C5963-3CF7-45DB-A82C-DB7685B526BD}"/>
              </a:ext>
            </a:extLst>
          </p:cNvPr>
          <p:cNvSpPr/>
          <p:nvPr/>
        </p:nvSpPr>
        <p:spPr>
          <a:xfrm>
            <a:off x="3422290" y="2686690"/>
            <a:ext cx="3404637" cy="1241965"/>
          </a:xfrm>
          <a:prstGeom prst="rect">
            <a:avLst/>
          </a:prstGeom>
          <a:noFill/>
          <a:ln w="12700">
            <a:solidFill>
              <a:srgbClr val="5B9CD5"/>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r>
              <a:rPr lang="en-US" sz="1200" dirty="0">
                <a:solidFill>
                  <a:srgbClr val="5B9CD5"/>
                </a:solidFill>
                <a:latin typeface="Arial" panose="020B0604020202020204" pitchFamily="34" charset="0"/>
                <a:cs typeface="Arial" panose="020B0604020202020204" pitchFamily="34" charset="0"/>
              </a:rPr>
              <a:t>Availability Zone 2</a:t>
            </a:r>
          </a:p>
        </p:txBody>
      </p:sp>
      <p:sp>
        <p:nvSpPr>
          <p:cNvPr id="24" name="Rectangle 23">
            <a:extLst>
              <a:ext uri="{FF2B5EF4-FFF2-40B4-BE49-F238E27FC236}">
                <a16:creationId xmlns:a16="http://schemas.microsoft.com/office/drawing/2014/main" id="{36C80543-48CE-41A4-B0BE-DA32E80B3ABB}"/>
              </a:ext>
            </a:extLst>
          </p:cNvPr>
          <p:cNvSpPr/>
          <p:nvPr/>
        </p:nvSpPr>
        <p:spPr>
          <a:xfrm>
            <a:off x="3422290" y="5152730"/>
            <a:ext cx="3404637" cy="1219434"/>
          </a:xfrm>
          <a:prstGeom prst="rect">
            <a:avLst/>
          </a:prstGeom>
          <a:noFill/>
          <a:ln w="12700">
            <a:solidFill>
              <a:srgbClr val="5B9CD5"/>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r>
              <a:rPr lang="en-US" sz="1200" dirty="0">
                <a:solidFill>
                  <a:srgbClr val="5B9CD5"/>
                </a:solidFill>
                <a:latin typeface="Arial" panose="020B0604020202020204" pitchFamily="34" charset="0"/>
                <a:cs typeface="Arial" panose="020B0604020202020204" pitchFamily="34" charset="0"/>
              </a:rPr>
              <a:t>Availability Zone</a:t>
            </a:r>
          </a:p>
        </p:txBody>
      </p:sp>
      <p:sp>
        <p:nvSpPr>
          <p:cNvPr id="25" name="TextBox 16">
            <a:extLst>
              <a:ext uri="{FF2B5EF4-FFF2-40B4-BE49-F238E27FC236}">
                <a16:creationId xmlns:a16="http://schemas.microsoft.com/office/drawing/2014/main" id="{CDA22A1A-B211-4DB0-86BE-93AF1BD884CB}"/>
              </a:ext>
            </a:extLst>
          </p:cNvPr>
          <p:cNvSpPr txBox="1">
            <a:spLocks noChangeArrowheads="1"/>
          </p:cNvSpPr>
          <p:nvPr/>
        </p:nvSpPr>
        <p:spPr bwMode="auto">
          <a:xfrm>
            <a:off x="5248087" y="2147249"/>
            <a:ext cx="1511300" cy="43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a:latin typeface="Arial" panose="020B0604020202020204" pitchFamily="34" charset="0"/>
                <a:ea typeface="Amazon Ember" panose="020B0603020204020204" pitchFamily="34" charset="0"/>
                <a:cs typeface="Arial" panose="020B0604020202020204" pitchFamily="34" charset="0"/>
              </a:rPr>
              <a:t>SQL server </a:t>
            </a:r>
          </a:p>
          <a:p>
            <a:pPr algn="ctr" eaLnBrk="1" hangingPunct="1"/>
            <a:r>
              <a:rPr lang="en-US" altLang="en-US" sz="1100">
                <a:latin typeface="Arial" panose="020B0604020202020204" pitchFamily="34" charset="0"/>
                <a:ea typeface="Amazon Ember" panose="020B0603020204020204" pitchFamily="34" charset="0"/>
                <a:cs typeface="Arial" panose="020B0604020202020204" pitchFamily="34" charset="0"/>
              </a:rPr>
              <a:t>instance</a:t>
            </a:r>
          </a:p>
        </p:txBody>
      </p:sp>
      <p:pic>
        <p:nvPicPr>
          <p:cNvPr id="26" name="Graphic 45">
            <a:extLst>
              <a:ext uri="{FF2B5EF4-FFF2-40B4-BE49-F238E27FC236}">
                <a16:creationId xmlns:a16="http://schemas.microsoft.com/office/drawing/2014/main" id="{77DC239C-6D26-408C-A44D-BC45F974A9D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73549" y="1678936"/>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 name="TextBox 62">
            <a:extLst>
              <a:ext uri="{FF2B5EF4-FFF2-40B4-BE49-F238E27FC236}">
                <a16:creationId xmlns:a16="http://schemas.microsoft.com/office/drawing/2014/main" id="{F756ADFA-F9B3-4271-813F-10A2728FAE1C}"/>
              </a:ext>
            </a:extLst>
          </p:cNvPr>
          <p:cNvSpPr txBox="1">
            <a:spLocks noChangeArrowheads="1"/>
          </p:cNvSpPr>
          <p:nvPr/>
        </p:nvSpPr>
        <p:spPr bwMode="auto">
          <a:xfrm>
            <a:off x="6130014" y="4639911"/>
            <a:ext cx="13827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a:latin typeface="Arial" panose="020B0604020202020204" pitchFamily="34" charset="0"/>
                <a:ea typeface="Amazon Ember" panose="020B0603020204020204" pitchFamily="34" charset="0"/>
                <a:cs typeface="Arial" panose="020B0604020202020204" pitchFamily="34" charset="0"/>
              </a:rPr>
              <a:t>S3 Standard</a:t>
            </a:r>
          </a:p>
        </p:txBody>
      </p:sp>
      <p:pic>
        <p:nvPicPr>
          <p:cNvPr id="28" name="Graphic 63">
            <a:extLst>
              <a:ext uri="{FF2B5EF4-FFF2-40B4-BE49-F238E27FC236}">
                <a16:creationId xmlns:a16="http://schemas.microsoft.com/office/drawing/2014/main" id="{5FBDEFD7-8510-4C1F-B9D0-79DF8A6870D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98327" y="4179536"/>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Box 53">
            <a:extLst>
              <a:ext uri="{FF2B5EF4-FFF2-40B4-BE49-F238E27FC236}">
                <a16:creationId xmlns:a16="http://schemas.microsoft.com/office/drawing/2014/main" id="{50527979-3B22-4EA3-8D2A-D6574B2E84A7}"/>
              </a:ext>
            </a:extLst>
          </p:cNvPr>
          <p:cNvSpPr txBox="1">
            <a:spLocks noChangeArrowheads="1"/>
          </p:cNvSpPr>
          <p:nvPr/>
        </p:nvSpPr>
        <p:spPr bwMode="auto">
          <a:xfrm>
            <a:off x="3430520" y="2200110"/>
            <a:ext cx="15113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Web Servers</a:t>
            </a:r>
          </a:p>
        </p:txBody>
      </p:sp>
      <p:pic>
        <p:nvPicPr>
          <p:cNvPr id="30" name="Graphic 62">
            <a:extLst>
              <a:ext uri="{FF2B5EF4-FFF2-40B4-BE49-F238E27FC236}">
                <a16:creationId xmlns:a16="http://schemas.microsoft.com/office/drawing/2014/main" id="{0A93D66E-BC03-47AF-B6C9-0295307670B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55983" y="1795297"/>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Box 53">
            <a:extLst>
              <a:ext uri="{FF2B5EF4-FFF2-40B4-BE49-F238E27FC236}">
                <a16:creationId xmlns:a16="http://schemas.microsoft.com/office/drawing/2014/main" id="{00FA343B-4A1D-4BA8-94C1-4EB2083235AC}"/>
              </a:ext>
            </a:extLst>
          </p:cNvPr>
          <p:cNvSpPr txBox="1">
            <a:spLocks noChangeArrowheads="1"/>
          </p:cNvSpPr>
          <p:nvPr/>
        </p:nvSpPr>
        <p:spPr bwMode="auto">
          <a:xfrm>
            <a:off x="3430520" y="3541850"/>
            <a:ext cx="15113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Web Servers</a:t>
            </a:r>
          </a:p>
        </p:txBody>
      </p:sp>
      <p:pic>
        <p:nvPicPr>
          <p:cNvPr id="32" name="Graphic 62">
            <a:extLst>
              <a:ext uri="{FF2B5EF4-FFF2-40B4-BE49-F238E27FC236}">
                <a16:creationId xmlns:a16="http://schemas.microsoft.com/office/drawing/2014/main" id="{4353B4AC-DDA3-4731-8A83-1D15F7DB3BE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55983" y="3137037"/>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 name="TextBox 52">
            <a:extLst>
              <a:ext uri="{FF2B5EF4-FFF2-40B4-BE49-F238E27FC236}">
                <a16:creationId xmlns:a16="http://schemas.microsoft.com/office/drawing/2014/main" id="{997B874E-6663-4305-939F-436ABD3B576D}"/>
              </a:ext>
            </a:extLst>
          </p:cNvPr>
          <p:cNvSpPr txBox="1">
            <a:spLocks noChangeArrowheads="1"/>
          </p:cNvSpPr>
          <p:nvPr/>
        </p:nvSpPr>
        <p:spPr bwMode="auto">
          <a:xfrm>
            <a:off x="3430520" y="5885067"/>
            <a:ext cx="15113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Database Web Server</a:t>
            </a:r>
          </a:p>
        </p:txBody>
      </p:sp>
      <p:pic>
        <p:nvPicPr>
          <p:cNvPr id="34" name="Graphic 60">
            <a:extLst>
              <a:ext uri="{FF2B5EF4-FFF2-40B4-BE49-F238E27FC236}">
                <a16:creationId xmlns:a16="http://schemas.microsoft.com/office/drawing/2014/main" id="{54213A9C-1712-4022-83E4-2B9DF2DF529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55983" y="5492954"/>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5" name="Straight Arrow Connector 34">
            <a:extLst>
              <a:ext uri="{FF2B5EF4-FFF2-40B4-BE49-F238E27FC236}">
                <a16:creationId xmlns:a16="http://schemas.microsoft.com/office/drawing/2014/main" id="{396789A5-F63B-4857-8011-58F7B018E810}"/>
              </a:ext>
            </a:extLst>
          </p:cNvPr>
          <p:cNvCxnSpPr>
            <a:cxnSpLocks/>
          </p:cNvCxnSpPr>
          <p:nvPr/>
        </p:nvCxnSpPr>
        <p:spPr>
          <a:xfrm>
            <a:off x="3136590" y="3429000"/>
            <a:ext cx="819392" cy="0"/>
          </a:xfrm>
          <a:prstGeom prst="straightConnector1">
            <a:avLst/>
          </a:prstGeom>
          <a:ln w="12700">
            <a:solidFill>
              <a:srgbClr val="545B64"/>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39" name="Freeform 35">
            <a:extLst>
              <a:ext uri="{FF2B5EF4-FFF2-40B4-BE49-F238E27FC236}">
                <a16:creationId xmlns:a16="http://schemas.microsoft.com/office/drawing/2014/main" id="{6A03670A-48AF-44B8-9EF1-CE488C1E5A6C}"/>
              </a:ext>
            </a:extLst>
          </p:cNvPr>
          <p:cNvSpPr/>
          <p:nvPr/>
        </p:nvSpPr>
        <p:spPr>
          <a:xfrm rot="16200000" flipH="1" flipV="1">
            <a:off x="3670485" y="3394512"/>
            <a:ext cx="3145400" cy="1511301"/>
          </a:xfrm>
          <a:custGeom>
            <a:avLst/>
            <a:gdLst>
              <a:gd name="connsiteX0" fmla="*/ 1371600 w 1371600"/>
              <a:gd name="connsiteY0" fmla="*/ 711200 h 711200"/>
              <a:gd name="connsiteX1" fmla="*/ 1371600 w 1371600"/>
              <a:gd name="connsiteY1" fmla="*/ 0 h 711200"/>
              <a:gd name="connsiteX2" fmla="*/ 0 w 1371600"/>
              <a:gd name="connsiteY2" fmla="*/ 0 h 711200"/>
            </a:gdLst>
            <a:ahLst/>
            <a:cxnLst>
              <a:cxn ang="0">
                <a:pos x="connsiteX0" y="connsiteY0"/>
              </a:cxn>
              <a:cxn ang="0">
                <a:pos x="connsiteX1" y="connsiteY1"/>
              </a:cxn>
              <a:cxn ang="0">
                <a:pos x="connsiteX2" y="connsiteY2"/>
              </a:cxn>
            </a:cxnLst>
            <a:rect l="l" t="t" r="r" b="b"/>
            <a:pathLst>
              <a:path w="1371600" h="711200">
                <a:moveTo>
                  <a:pt x="1371600" y="711200"/>
                </a:moveTo>
                <a:lnTo>
                  <a:pt x="1371600" y="0"/>
                </a:lnTo>
                <a:lnTo>
                  <a:pt x="0" y="0"/>
                </a:lnTo>
              </a:path>
            </a:pathLst>
          </a:custGeom>
          <a:noFill/>
          <a:ln w="12700">
            <a:solidFill>
              <a:schemeClr val="tx2"/>
            </a:solidFill>
            <a:headEnd type="none" w="med" len="sm"/>
            <a:tailEnd type="arrow" w="med" len="s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40" name="Freeform 35">
            <a:extLst>
              <a:ext uri="{FF2B5EF4-FFF2-40B4-BE49-F238E27FC236}">
                <a16:creationId xmlns:a16="http://schemas.microsoft.com/office/drawing/2014/main" id="{578A6E0E-888E-4B25-97A5-D242F3943664}"/>
              </a:ext>
            </a:extLst>
          </p:cNvPr>
          <p:cNvSpPr/>
          <p:nvPr/>
        </p:nvSpPr>
        <p:spPr>
          <a:xfrm rot="16200000" flipH="1" flipV="1">
            <a:off x="4738524" y="2293608"/>
            <a:ext cx="854640" cy="1422346"/>
          </a:xfrm>
          <a:custGeom>
            <a:avLst/>
            <a:gdLst>
              <a:gd name="connsiteX0" fmla="*/ 1371600 w 1371600"/>
              <a:gd name="connsiteY0" fmla="*/ 711200 h 711200"/>
              <a:gd name="connsiteX1" fmla="*/ 1371600 w 1371600"/>
              <a:gd name="connsiteY1" fmla="*/ 0 h 711200"/>
              <a:gd name="connsiteX2" fmla="*/ 0 w 1371600"/>
              <a:gd name="connsiteY2" fmla="*/ 0 h 711200"/>
            </a:gdLst>
            <a:ahLst/>
            <a:cxnLst>
              <a:cxn ang="0">
                <a:pos x="connsiteX0" y="connsiteY0"/>
              </a:cxn>
              <a:cxn ang="0">
                <a:pos x="connsiteX1" y="connsiteY1"/>
              </a:cxn>
              <a:cxn ang="0">
                <a:pos x="connsiteX2" y="connsiteY2"/>
              </a:cxn>
            </a:cxnLst>
            <a:rect l="l" t="t" r="r" b="b"/>
            <a:pathLst>
              <a:path w="1371600" h="711200">
                <a:moveTo>
                  <a:pt x="1371600" y="711200"/>
                </a:moveTo>
                <a:lnTo>
                  <a:pt x="1371600" y="0"/>
                </a:lnTo>
                <a:lnTo>
                  <a:pt x="0" y="0"/>
                </a:lnTo>
              </a:path>
            </a:pathLst>
          </a:custGeom>
          <a:noFill/>
          <a:ln w="12700">
            <a:solidFill>
              <a:schemeClr val="tx2"/>
            </a:solidFill>
            <a:headEnd type="none" w="med" len="sm"/>
            <a:tailEnd type="arrow" w="med" len="s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cxnSp>
        <p:nvCxnSpPr>
          <p:cNvPr id="41" name="Straight Arrow Connector 40">
            <a:extLst>
              <a:ext uri="{FF2B5EF4-FFF2-40B4-BE49-F238E27FC236}">
                <a16:creationId xmlns:a16="http://schemas.microsoft.com/office/drawing/2014/main" id="{602CEBEB-1B4C-4ABE-88C0-886F51B57CD6}"/>
              </a:ext>
            </a:extLst>
          </p:cNvPr>
          <p:cNvCxnSpPr>
            <a:cxnSpLocks/>
          </p:cNvCxnSpPr>
          <p:nvPr/>
        </p:nvCxnSpPr>
        <p:spPr>
          <a:xfrm>
            <a:off x="4482858" y="2110132"/>
            <a:ext cx="1126668" cy="0"/>
          </a:xfrm>
          <a:prstGeom prst="straightConnector1">
            <a:avLst/>
          </a:prstGeom>
          <a:ln w="12700">
            <a:solidFill>
              <a:srgbClr val="545B64"/>
            </a:solidFill>
            <a:headEnd type="none" w="med" len="sm"/>
            <a:tailEnd type="arrow" w="med" len="sm"/>
          </a:ln>
        </p:spPr>
        <p:style>
          <a:lnRef idx="1">
            <a:schemeClr val="accent1"/>
          </a:lnRef>
          <a:fillRef idx="0">
            <a:schemeClr val="accent1"/>
          </a:fillRef>
          <a:effectRef idx="0">
            <a:schemeClr val="accent1"/>
          </a:effectRef>
          <a:fontRef idx="minor">
            <a:schemeClr val="tx1"/>
          </a:fontRef>
        </p:style>
      </p:cxnSp>
      <p:sp>
        <p:nvSpPr>
          <p:cNvPr id="43" name="TextBox 12">
            <a:extLst>
              <a:ext uri="{FF2B5EF4-FFF2-40B4-BE49-F238E27FC236}">
                <a16:creationId xmlns:a16="http://schemas.microsoft.com/office/drawing/2014/main" id="{1023D797-E215-493B-B75C-DB0F432FD43A}"/>
              </a:ext>
            </a:extLst>
          </p:cNvPr>
          <p:cNvSpPr txBox="1">
            <a:spLocks noChangeArrowheads="1"/>
          </p:cNvSpPr>
          <p:nvPr/>
        </p:nvSpPr>
        <p:spPr bwMode="auto">
          <a:xfrm>
            <a:off x="926498" y="3666378"/>
            <a:ext cx="1330325"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Elastic IP</a:t>
            </a:r>
          </a:p>
          <a:p>
            <a:pPr algn="ctr" eaLnBrk="1" hangingPunct="1"/>
            <a:r>
              <a:rPr lang="en-US" altLang="en-US" sz="1100" dirty="0">
                <a:latin typeface="Arial" panose="020B0604020202020204" pitchFamily="34" charset="0"/>
                <a:ea typeface="Amazon Ember" panose="020B0603020204020204" pitchFamily="34" charset="0"/>
                <a:cs typeface="Arial" panose="020B0604020202020204" pitchFamily="34" charset="0"/>
              </a:rPr>
              <a:t>address</a:t>
            </a:r>
          </a:p>
        </p:txBody>
      </p:sp>
      <p:pic>
        <p:nvPicPr>
          <p:cNvPr id="44" name="Graphic 42">
            <a:extLst>
              <a:ext uri="{FF2B5EF4-FFF2-40B4-BE49-F238E27FC236}">
                <a16:creationId xmlns:a16="http://schemas.microsoft.com/office/drawing/2014/main" id="{78C792F8-0A8C-41C7-B35D-B684E4349F5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64642" y="3200400"/>
            <a:ext cx="45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Rectangle 44">
            <a:extLst>
              <a:ext uri="{FF2B5EF4-FFF2-40B4-BE49-F238E27FC236}">
                <a16:creationId xmlns:a16="http://schemas.microsoft.com/office/drawing/2014/main" id="{6AD733C9-7131-4B05-B1A7-22A1618AAD8B}"/>
              </a:ext>
            </a:extLst>
          </p:cNvPr>
          <p:cNvSpPr/>
          <p:nvPr/>
        </p:nvSpPr>
        <p:spPr>
          <a:xfrm>
            <a:off x="7929485" y="376534"/>
            <a:ext cx="3783674" cy="4154984"/>
          </a:xfrm>
          <a:prstGeom prst="rect">
            <a:avLst/>
          </a:prstGeom>
        </p:spPr>
        <p:txBody>
          <a:bodyPr wrap="square">
            <a:spAutoFit/>
          </a:bodyPr>
          <a:lstStyle/>
          <a:p>
            <a:pPr marL="228600" indent="-228600">
              <a:buFont typeface="+mj-lt"/>
              <a:buAutoNum type="arabicPeriod"/>
            </a:pPr>
            <a:r>
              <a:rPr lang="en-AU" sz="1100" dirty="0"/>
              <a:t>The Internet Gateway provides access into the application.</a:t>
            </a:r>
          </a:p>
          <a:p>
            <a:pPr marL="228600" indent="-228600">
              <a:buFont typeface="+mj-lt"/>
              <a:buAutoNum type="arabicPeriod"/>
            </a:pPr>
            <a:r>
              <a:rPr lang="en-AU" sz="1100" dirty="0"/>
              <a:t>The</a:t>
            </a:r>
            <a:r>
              <a:rPr lang="en-AU" sz="1100" baseline="0" dirty="0"/>
              <a:t> Elastic IP is a permanent public ip address which is connected to the load balancer using an internal ip address that may vary at will</a:t>
            </a:r>
          </a:p>
          <a:p>
            <a:pPr marL="228600" indent="-228600">
              <a:buFont typeface="+mj-lt"/>
              <a:buAutoNum type="arabicPeriod"/>
            </a:pPr>
            <a:r>
              <a:rPr lang="en-AU" sz="1100" baseline="0" dirty="0"/>
              <a:t>The Classic Load Balancer automatically scales up to handle the volume of traffic </a:t>
            </a:r>
          </a:p>
          <a:p>
            <a:pPr marL="228600" indent="-228600">
              <a:buFont typeface="+mj-lt"/>
              <a:buAutoNum type="arabicPeriod"/>
            </a:pPr>
            <a:r>
              <a:rPr lang="en-AU" sz="1100" baseline="0" dirty="0"/>
              <a:t>The application is spread across 2 availability zones</a:t>
            </a:r>
          </a:p>
          <a:p>
            <a:pPr marL="228600" indent="-228600">
              <a:buFont typeface="+mj-lt"/>
              <a:buAutoNum type="arabicPeriod"/>
            </a:pPr>
            <a:r>
              <a:rPr lang="en-AU" sz="1100" baseline="0" dirty="0"/>
              <a:t>The Webserver Auto-Scaling Group manages the Web Server instances. The ASG Scales Out increasing the number of web servers as traffic rises and Scales In as traffic decreases.</a:t>
            </a:r>
          </a:p>
          <a:p>
            <a:pPr marL="228600" indent="-228600">
              <a:buFont typeface="+mj-lt"/>
              <a:buAutoNum type="arabicPeriod"/>
            </a:pPr>
            <a:r>
              <a:rPr lang="en-AU" sz="1100" baseline="0" dirty="0"/>
              <a:t>The webservers connect to a SQL Server instance</a:t>
            </a:r>
          </a:p>
          <a:p>
            <a:pPr marL="228600" indent="-228600">
              <a:buFont typeface="+mj-lt"/>
              <a:buAutoNum type="arabicPeriod"/>
            </a:pPr>
            <a:r>
              <a:rPr lang="en-AU" sz="1100" dirty="0"/>
              <a:t>When a webserver is created by the ASG it i</a:t>
            </a:r>
            <a:r>
              <a:rPr lang="en-AU" sz="1100" baseline="0" dirty="0"/>
              <a:t>nstalls the LANSA MSI which has been uploaded to S3 by the customer</a:t>
            </a:r>
          </a:p>
          <a:p>
            <a:pPr marL="228600" indent="-228600">
              <a:buFont typeface="+mj-lt"/>
              <a:buAutoNum type="arabicPeriod"/>
            </a:pPr>
            <a:r>
              <a:rPr lang="en-AU" sz="1100" dirty="0"/>
              <a:t>The Database Auto Scaling Group web server is identical to the other web servers, except that it is the one instance that is responsible for maintaining the database structure in the database server. It is the instance which creates the tables when the application is installed. And upgrades the tables when the application is upgraded. The Database ASG is set to only have 1 instance running at a time. It is important that only 1 instance modifies </a:t>
            </a:r>
            <a:r>
              <a:rPr lang="en-AU" sz="1100"/>
              <a:t>the database </a:t>
            </a:r>
            <a:r>
              <a:rPr lang="en-AU" sz="1100" dirty="0"/>
              <a:t>structure.</a:t>
            </a:r>
            <a:endParaRPr lang="en-AU" sz="1100" baseline="0" dirty="0"/>
          </a:p>
        </p:txBody>
      </p:sp>
    </p:spTree>
    <p:extLst>
      <p:ext uri="{BB962C8B-B14F-4D97-AF65-F5344CB8AC3E}">
        <p14:creationId xmlns:p14="http://schemas.microsoft.com/office/powerpoint/2010/main" val="2958755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TotalTime>
  <Words>240</Words>
  <Application>Microsoft Office PowerPoint</Application>
  <PresentationFormat>Widescreen</PresentationFormat>
  <Paragraphs>29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Amazon Ember</vt:lpstr>
      <vt:lpstr>Arial</vt:lpstr>
      <vt:lpstr>Calibri</vt:lpstr>
      <vt:lpstr>Calibri Light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Goodridge</dc:creator>
  <cp:lastModifiedBy>Robert Goodridge</cp:lastModifiedBy>
  <cp:revision>13</cp:revision>
  <dcterms:created xsi:type="dcterms:W3CDTF">2020-12-10T00:55:46Z</dcterms:created>
  <dcterms:modified xsi:type="dcterms:W3CDTF">2020-12-10T02:34:07Z</dcterms:modified>
</cp:coreProperties>
</file>